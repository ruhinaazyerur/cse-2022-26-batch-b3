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2"/>
  </p:sldMasterIdLst>
  <p:notesMasterIdLst>
    <p:notesMasterId r:id="rId15"/>
  </p:notesMasterIdLst>
  <p:sldIdLst>
    <p:sldId id="267" r:id="rId3"/>
    <p:sldId id="257" r:id="rId4"/>
    <p:sldId id="278" r:id="rId5"/>
    <p:sldId id="258" r:id="rId6"/>
    <p:sldId id="259" r:id="rId7"/>
    <p:sldId id="260" r:id="rId8"/>
    <p:sldId id="261" r:id="rId9"/>
    <p:sldId id="279" r:id="rId10"/>
    <p:sldId id="263" r:id="rId11"/>
    <p:sldId id="264" r:id="rId12"/>
    <p:sldId id="280" r:id="rId13"/>
    <p:sldId id="266" r:id="rId14"/>
  </p:sldIdLst>
  <p:sldSz cx="12192000" cy="6858000"/>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userDrawn="1">
          <p15:clr>
            <a:srgbClr val="A4A3A4"/>
          </p15:clr>
        </p15:guide>
        <p15:guide id="2" pos="383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71" autoAdjust="0"/>
    <p:restoredTop sz="86477" autoAdjust="0"/>
  </p:normalViewPr>
  <p:slideViewPr>
    <p:cSldViewPr showGuides="1">
      <p:cViewPr>
        <p:scale>
          <a:sx n="76" d="100"/>
          <a:sy n="76" d="100"/>
        </p:scale>
        <p:origin x="-342" y="-48"/>
      </p:cViewPr>
      <p:guideLst>
        <p:guide orient="horz" pos="2160"/>
        <p:guide pos="3835"/>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49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4988"/>
          </a:xfrm>
          <a:prstGeom prst="rect">
            <a:avLst/>
          </a:prstGeom>
        </p:spPr>
        <p:txBody>
          <a:bodyPr vert="horz" lIns="91440" tIns="45720" rIns="91440" bIns="45720" rtlCol="0"/>
          <a:lstStyle>
            <a:lvl1pPr algn="r">
              <a:defRPr sz="1200"/>
            </a:lvl1pPr>
          </a:lstStyle>
          <a:p>
            <a:fld id="{92414672-7F74-4670-9356-5FF07953FE6B}" type="datetimeFigureOut">
              <a:rPr lang="en-US" smtClean="0"/>
              <a:t>12/11/2025</a:t>
            </a:fld>
            <a:endParaRPr lang="en-US"/>
          </a:p>
        </p:txBody>
      </p:sp>
      <p:sp>
        <p:nvSpPr>
          <p:cNvPr id="4" name="Slide Image Placeholder 3"/>
          <p:cNvSpPr>
            <a:spLocks noGrp="1" noRot="1" noChangeAspect="1"/>
          </p:cNvSpPr>
          <p:nvPr>
            <p:ph type="sldImg" idx="2"/>
          </p:nvPr>
        </p:nvSpPr>
        <p:spPr>
          <a:xfrm>
            <a:off x="215900" y="801688"/>
            <a:ext cx="7127875" cy="40100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078413"/>
            <a:ext cx="6048375" cy="48117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49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281488" y="10155238"/>
            <a:ext cx="3276600" cy="534987"/>
          </a:xfrm>
          <a:prstGeom prst="rect">
            <a:avLst/>
          </a:prstGeom>
        </p:spPr>
        <p:txBody>
          <a:bodyPr vert="horz" lIns="91440" tIns="45720" rIns="91440" bIns="45720" rtlCol="0" anchor="b"/>
          <a:lstStyle>
            <a:lvl1pPr algn="r">
              <a:defRPr sz="1200"/>
            </a:lvl1pPr>
          </a:lstStyle>
          <a:p>
            <a:fld id="{28FC78BE-84F6-4F5F-974A-47A573FE2857}" type="slidenum">
              <a:rPr lang="en-US" smtClean="0"/>
              <a:t>‹#›</a:t>
            </a:fld>
            <a:endParaRPr lang="en-US"/>
          </a:p>
        </p:txBody>
      </p:sp>
    </p:spTree>
    <p:extLst>
      <p:ext uri="{BB962C8B-B14F-4D97-AF65-F5344CB8AC3E}">
        <p14:creationId xmlns:p14="http://schemas.microsoft.com/office/powerpoint/2010/main" val="2734435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8FC78BE-84F6-4F5F-974A-47A573FE2857}" type="slidenum">
              <a:rPr lang="en-US" smtClean="0"/>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8FC78BE-84F6-4F5F-974A-47A573FE2857}" type="slidenum">
              <a:rPr lang="en-US" smtClean="0"/>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28FC78BE-84F6-4F5F-974A-47A573FE2857}" type="slidenum">
              <a:rPr lang="en-US" smtClean="0"/>
              <a:t>9</a:t>
            </a:fld>
            <a:endParaRPr lang="en-US"/>
          </a:p>
        </p:txBody>
      </p:sp>
    </p:spTree>
    <p:extLst>
      <p:ext uri="{BB962C8B-B14F-4D97-AF65-F5344CB8AC3E}">
        <p14:creationId xmlns:p14="http://schemas.microsoft.com/office/powerpoint/2010/main" val="16250663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28FC78BE-84F6-4F5F-974A-47A573FE2857}" type="slidenum">
              <a:rPr lang="en-US" smtClean="0"/>
              <a:t>11</a:t>
            </a:fld>
            <a:endParaRPr lang="en-US"/>
          </a:p>
        </p:txBody>
      </p:sp>
    </p:spTree>
    <p:extLst>
      <p:ext uri="{BB962C8B-B14F-4D97-AF65-F5344CB8AC3E}">
        <p14:creationId xmlns:p14="http://schemas.microsoft.com/office/powerpoint/2010/main" val="886092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7"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8" name="PlaceHolder 2"/>
          <p:cNvSpPr>
            <a:spLocks noGrp="1"/>
          </p:cNvSpPr>
          <p:nvPr>
            <p:ph type="subTitle"/>
          </p:nvPr>
        </p:nvSpPr>
        <p:spPr>
          <a:xfrm>
            <a:off x="199440" y="1097280"/>
            <a:ext cx="11778840" cy="5394600"/>
          </a:xfrm>
          <a:prstGeom prst="rect">
            <a:avLst/>
          </a:prstGeom>
          <a:noFill/>
          <a:ln w="0">
            <a:noFill/>
          </a:ln>
        </p:spPr>
        <p:txBody>
          <a:bodyPr lIns="0" tIns="0" rIns="0" bIns="0" anchor="ctr">
            <a:noAutofit/>
          </a:bodyPr>
          <a:lstStyle/>
          <a:p>
            <a:pPr algn="ctr"/>
            <a:endParaRPr lang="en-IN" sz="3200" b="0" strike="noStrike" spc="-1">
              <a:latin typeface="Arial" panose="020B0604020202020204"/>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10" name="PlaceHolder 2"/>
          <p:cNvSpPr>
            <a:spLocks noGrp="1"/>
          </p:cNvSpPr>
          <p:nvPr>
            <p:ph/>
          </p:nvPr>
        </p:nvSpPr>
        <p:spPr>
          <a:xfrm>
            <a:off x="199440" y="1097280"/>
            <a:ext cx="11778840" cy="539460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12" name="PlaceHolder 2"/>
          <p:cNvSpPr>
            <a:spLocks noGrp="1"/>
          </p:cNvSpPr>
          <p:nvPr>
            <p:ph/>
          </p:nvPr>
        </p:nvSpPr>
        <p:spPr>
          <a:xfrm>
            <a:off x="199440" y="1097280"/>
            <a:ext cx="5747760" cy="539460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13" name="PlaceHolder 3"/>
          <p:cNvSpPr>
            <a:spLocks noGrp="1"/>
          </p:cNvSpPr>
          <p:nvPr>
            <p:ph/>
          </p:nvPr>
        </p:nvSpPr>
        <p:spPr>
          <a:xfrm>
            <a:off x="6234840" y="1097280"/>
            <a:ext cx="5747760" cy="539460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4"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5" name="PlaceHolder 1"/>
          <p:cNvSpPr>
            <a:spLocks noGrp="1"/>
          </p:cNvSpPr>
          <p:nvPr>
            <p:ph type="subTitle"/>
          </p:nvPr>
        </p:nvSpPr>
        <p:spPr>
          <a:xfrm>
            <a:off x="0" y="232920"/>
            <a:ext cx="12191760" cy="3313800"/>
          </a:xfrm>
          <a:prstGeom prst="rect">
            <a:avLst/>
          </a:prstGeom>
          <a:noFill/>
          <a:ln w="0">
            <a:noFill/>
          </a:ln>
        </p:spPr>
        <p:txBody>
          <a:bodyPr lIns="0" tIns="0" rIns="0" bIns="0" anchor="ctr">
            <a:noAutofit/>
          </a:bodyPr>
          <a:lstStyle/>
          <a:p>
            <a:pPr algn="ctr"/>
            <a:endParaRPr lang="en-IN" sz="3200" b="0" strike="noStrike" spc="-1">
              <a:latin typeface="Arial" panose="020B0604020202020204"/>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6"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17" name="PlaceHolder 2"/>
          <p:cNvSpPr>
            <a:spLocks noGrp="1"/>
          </p:cNvSpPr>
          <p:nvPr>
            <p:ph/>
          </p:nvPr>
        </p:nvSpPr>
        <p:spPr>
          <a:xfrm>
            <a:off x="199440" y="109728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18" name="PlaceHolder 3"/>
          <p:cNvSpPr>
            <a:spLocks noGrp="1"/>
          </p:cNvSpPr>
          <p:nvPr>
            <p:ph/>
          </p:nvPr>
        </p:nvSpPr>
        <p:spPr>
          <a:xfrm>
            <a:off x="6234840" y="1097280"/>
            <a:ext cx="5747760" cy="539460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19" name="PlaceHolder 4"/>
          <p:cNvSpPr>
            <a:spLocks noGrp="1"/>
          </p:cNvSpPr>
          <p:nvPr>
            <p:ph/>
          </p:nvPr>
        </p:nvSpPr>
        <p:spPr>
          <a:xfrm>
            <a:off x="199440" y="391500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21" name="PlaceHolder 2"/>
          <p:cNvSpPr>
            <a:spLocks noGrp="1"/>
          </p:cNvSpPr>
          <p:nvPr>
            <p:ph/>
          </p:nvPr>
        </p:nvSpPr>
        <p:spPr>
          <a:xfrm>
            <a:off x="199440" y="1097280"/>
            <a:ext cx="5747760" cy="539460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22" name="PlaceHolder 3"/>
          <p:cNvSpPr>
            <a:spLocks noGrp="1"/>
          </p:cNvSpPr>
          <p:nvPr>
            <p:ph/>
          </p:nvPr>
        </p:nvSpPr>
        <p:spPr>
          <a:xfrm>
            <a:off x="6234840" y="109728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23" name="PlaceHolder 4"/>
          <p:cNvSpPr>
            <a:spLocks noGrp="1"/>
          </p:cNvSpPr>
          <p:nvPr>
            <p:ph/>
          </p:nvPr>
        </p:nvSpPr>
        <p:spPr>
          <a:xfrm>
            <a:off x="6234840" y="391500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25" name="PlaceHolder 2"/>
          <p:cNvSpPr>
            <a:spLocks noGrp="1"/>
          </p:cNvSpPr>
          <p:nvPr>
            <p:ph/>
          </p:nvPr>
        </p:nvSpPr>
        <p:spPr>
          <a:xfrm>
            <a:off x="199440" y="109728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26" name="PlaceHolder 3"/>
          <p:cNvSpPr>
            <a:spLocks noGrp="1"/>
          </p:cNvSpPr>
          <p:nvPr>
            <p:ph/>
          </p:nvPr>
        </p:nvSpPr>
        <p:spPr>
          <a:xfrm>
            <a:off x="6234840" y="109728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27" name="PlaceHolder 4"/>
          <p:cNvSpPr>
            <a:spLocks noGrp="1"/>
          </p:cNvSpPr>
          <p:nvPr>
            <p:ph/>
          </p:nvPr>
        </p:nvSpPr>
        <p:spPr>
          <a:xfrm>
            <a:off x="199440" y="3915000"/>
            <a:ext cx="1177884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29" name="PlaceHolder 2"/>
          <p:cNvSpPr>
            <a:spLocks noGrp="1"/>
          </p:cNvSpPr>
          <p:nvPr>
            <p:ph/>
          </p:nvPr>
        </p:nvSpPr>
        <p:spPr>
          <a:xfrm>
            <a:off x="199440" y="1097280"/>
            <a:ext cx="1177884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30" name="PlaceHolder 3"/>
          <p:cNvSpPr>
            <a:spLocks noGrp="1"/>
          </p:cNvSpPr>
          <p:nvPr>
            <p:ph/>
          </p:nvPr>
        </p:nvSpPr>
        <p:spPr>
          <a:xfrm>
            <a:off x="199440" y="3915000"/>
            <a:ext cx="1177884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32" name="PlaceHolder 2"/>
          <p:cNvSpPr>
            <a:spLocks noGrp="1"/>
          </p:cNvSpPr>
          <p:nvPr>
            <p:ph/>
          </p:nvPr>
        </p:nvSpPr>
        <p:spPr>
          <a:xfrm>
            <a:off x="199440" y="109728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33" name="PlaceHolder 3"/>
          <p:cNvSpPr>
            <a:spLocks noGrp="1"/>
          </p:cNvSpPr>
          <p:nvPr>
            <p:ph/>
          </p:nvPr>
        </p:nvSpPr>
        <p:spPr>
          <a:xfrm>
            <a:off x="6234840" y="109728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34" name="PlaceHolder 4"/>
          <p:cNvSpPr>
            <a:spLocks noGrp="1"/>
          </p:cNvSpPr>
          <p:nvPr>
            <p:ph/>
          </p:nvPr>
        </p:nvSpPr>
        <p:spPr>
          <a:xfrm>
            <a:off x="199440" y="391500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35" name="PlaceHolder 5"/>
          <p:cNvSpPr>
            <a:spLocks noGrp="1"/>
          </p:cNvSpPr>
          <p:nvPr>
            <p:ph/>
          </p:nvPr>
        </p:nvSpPr>
        <p:spPr>
          <a:xfrm>
            <a:off x="6234840" y="391500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6"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37" name="PlaceHolder 2"/>
          <p:cNvSpPr>
            <a:spLocks noGrp="1"/>
          </p:cNvSpPr>
          <p:nvPr>
            <p:ph/>
          </p:nvPr>
        </p:nvSpPr>
        <p:spPr>
          <a:xfrm>
            <a:off x="199440" y="1097280"/>
            <a:ext cx="379260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38" name="PlaceHolder 3"/>
          <p:cNvSpPr>
            <a:spLocks noGrp="1"/>
          </p:cNvSpPr>
          <p:nvPr>
            <p:ph/>
          </p:nvPr>
        </p:nvSpPr>
        <p:spPr>
          <a:xfrm>
            <a:off x="4182120" y="1097280"/>
            <a:ext cx="379260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39" name="PlaceHolder 4"/>
          <p:cNvSpPr>
            <a:spLocks noGrp="1"/>
          </p:cNvSpPr>
          <p:nvPr>
            <p:ph/>
          </p:nvPr>
        </p:nvSpPr>
        <p:spPr>
          <a:xfrm>
            <a:off x="8164800" y="1097280"/>
            <a:ext cx="379260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40" name="PlaceHolder 5"/>
          <p:cNvSpPr>
            <a:spLocks noGrp="1"/>
          </p:cNvSpPr>
          <p:nvPr>
            <p:ph/>
          </p:nvPr>
        </p:nvSpPr>
        <p:spPr>
          <a:xfrm>
            <a:off x="199440" y="3915000"/>
            <a:ext cx="379260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41" name="PlaceHolder 6"/>
          <p:cNvSpPr>
            <a:spLocks noGrp="1"/>
          </p:cNvSpPr>
          <p:nvPr>
            <p:ph/>
          </p:nvPr>
        </p:nvSpPr>
        <p:spPr>
          <a:xfrm>
            <a:off x="4182120" y="3915000"/>
            <a:ext cx="379260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42" name="PlaceHolder 7"/>
          <p:cNvSpPr>
            <a:spLocks noGrp="1"/>
          </p:cNvSpPr>
          <p:nvPr>
            <p:ph/>
          </p:nvPr>
        </p:nvSpPr>
        <p:spPr>
          <a:xfrm>
            <a:off x="8164800" y="3915000"/>
            <a:ext cx="379260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5" name="Date Placeholder 3"/>
          <p:cNvSpPr txBox="1"/>
          <p:nvPr userDrawn="1"/>
        </p:nvSpPr>
        <p:spPr>
          <a:xfrm>
            <a:off x="777239" y="6634573"/>
            <a:ext cx="5781822" cy="220979"/>
          </a:xfrm>
          <a:prstGeom prst="rect">
            <a:avLst/>
          </a:prstGeom>
          <a:solidFill>
            <a:srgbClr val="00206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6" name="Date Placeholder 3"/>
          <p:cNvSpPr txBox="1"/>
          <p:nvPr userDrawn="1"/>
        </p:nvSpPr>
        <p:spPr>
          <a:xfrm>
            <a:off x="6559062" y="6634573"/>
            <a:ext cx="5195133" cy="220979"/>
          </a:xfrm>
          <a:prstGeom prst="rect">
            <a:avLst/>
          </a:prstGeom>
          <a:solidFill>
            <a:srgbClr val="00808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7" name="Date Placeholder 3"/>
          <p:cNvSpPr txBox="1"/>
          <p:nvPr userDrawn="1"/>
        </p:nvSpPr>
        <p:spPr>
          <a:xfrm>
            <a:off x="11754196" y="6637020"/>
            <a:ext cx="437803" cy="220979"/>
          </a:xfrm>
          <a:prstGeom prst="rect">
            <a:avLst/>
          </a:prstGeom>
          <a:solidFill>
            <a:schemeClr val="accent4"/>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Date Placeholder 3"/>
          <p:cNvSpPr txBox="1"/>
          <p:nvPr userDrawn="1"/>
        </p:nvSpPr>
        <p:spPr>
          <a:xfrm>
            <a:off x="-1" y="-1"/>
            <a:ext cx="12191999" cy="232759"/>
          </a:xfrm>
          <a:prstGeom prst="rect">
            <a:avLst/>
          </a:prstGeom>
          <a:solidFill>
            <a:srgbClr val="006666"/>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500" b="1" i="1" dirty="0">
              <a:solidFill>
                <a:schemeClr val="bg1"/>
              </a:solidFill>
              <a:effectLst/>
              <a:latin typeface="Times New Roman" panose="02020603050405020304" pitchFamily="18" charset="0"/>
              <a:cs typeface="Times New Roman" panose="02020603050405020304" pitchFamily="18" charset="0"/>
            </a:endParaRPr>
          </a:p>
        </p:txBody>
      </p:sp>
      <p:sp>
        <p:nvSpPr>
          <p:cNvPr id="9" name="Date Placeholder 3"/>
          <p:cNvSpPr txBox="1"/>
          <p:nvPr userDrawn="1"/>
        </p:nvSpPr>
        <p:spPr>
          <a:xfrm>
            <a:off x="0" y="6634573"/>
            <a:ext cx="777239" cy="221522"/>
          </a:xfrm>
          <a:prstGeom prst="rect">
            <a:avLst/>
          </a:prstGeom>
          <a:solidFill>
            <a:schemeClr val="accent2">
              <a:lumMod val="75000"/>
            </a:schemeClr>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1"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dirty="0">
              <a:solidFill>
                <a:srgbClr val="000000"/>
              </a:solidFill>
              <a:latin typeface="Calibri" panose="020F0502020204030204"/>
            </a:endParaRPr>
          </a:p>
        </p:txBody>
      </p:sp>
      <p:sp>
        <p:nvSpPr>
          <p:cNvPr id="52" name="PlaceHolder 2"/>
          <p:cNvSpPr>
            <a:spLocks noGrp="1"/>
          </p:cNvSpPr>
          <p:nvPr>
            <p:ph type="subTitle"/>
          </p:nvPr>
        </p:nvSpPr>
        <p:spPr>
          <a:xfrm>
            <a:off x="199440" y="1097280"/>
            <a:ext cx="11778840" cy="5394600"/>
          </a:xfrm>
          <a:prstGeom prst="rect">
            <a:avLst/>
          </a:prstGeom>
          <a:noFill/>
          <a:ln w="0">
            <a:noFill/>
          </a:ln>
        </p:spPr>
        <p:txBody>
          <a:bodyPr lIns="0" tIns="0" rIns="0" bIns="0" anchor="ctr">
            <a:noAutofit/>
          </a:bodyPr>
          <a:lstStyle/>
          <a:p>
            <a:pPr algn="ctr"/>
            <a:endParaRPr lang="en-IN" sz="3200" b="0" strike="noStrike" spc="-1" dirty="0">
              <a:latin typeface="Arial" panose="020B0604020202020204"/>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53"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54" name="PlaceHolder 2"/>
          <p:cNvSpPr>
            <a:spLocks noGrp="1"/>
          </p:cNvSpPr>
          <p:nvPr>
            <p:ph/>
          </p:nvPr>
        </p:nvSpPr>
        <p:spPr>
          <a:xfrm>
            <a:off x="199440" y="1097280"/>
            <a:ext cx="11778840" cy="539460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56" name="PlaceHolder 2"/>
          <p:cNvSpPr>
            <a:spLocks noGrp="1"/>
          </p:cNvSpPr>
          <p:nvPr>
            <p:ph/>
          </p:nvPr>
        </p:nvSpPr>
        <p:spPr>
          <a:xfrm>
            <a:off x="199440" y="1097280"/>
            <a:ext cx="5747760" cy="539460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57" name="PlaceHolder 3"/>
          <p:cNvSpPr>
            <a:spLocks noGrp="1"/>
          </p:cNvSpPr>
          <p:nvPr>
            <p:ph/>
          </p:nvPr>
        </p:nvSpPr>
        <p:spPr>
          <a:xfrm>
            <a:off x="6234840" y="1097280"/>
            <a:ext cx="5747760" cy="539460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8"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9" name="PlaceHolder 1"/>
          <p:cNvSpPr>
            <a:spLocks noGrp="1"/>
          </p:cNvSpPr>
          <p:nvPr>
            <p:ph type="subTitle"/>
          </p:nvPr>
        </p:nvSpPr>
        <p:spPr>
          <a:xfrm>
            <a:off x="0" y="232920"/>
            <a:ext cx="12191760" cy="3313800"/>
          </a:xfrm>
          <a:prstGeom prst="rect">
            <a:avLst/>
          </a:prstGeom>
          <a:noFill/>
          <a:ln w="0">
            <a:noFill/>
          </a:ln>
        </p:spPr>
        <p:txBody>
          <a:bodyPr lIns="0" tIns="0" rIns="0" bIns="0" anchor="ctr">
            <a:noAutofit/>
          </a:bodyPr>
          <a:lstStyle/>
          <a:p>
            <a:pPr algn="ctr"/>
            <a:endParaRPr lang="en-IN" sz="3200" b="0" strike="noStrike" spc="-1">
              <a:latin typeface="Arial" panose="020B0604020202020204"/>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61" name="PlaceHolder 2"/>
          <p:cNvSpPr>
            <a:spLocks noGrp="1"/>
          </p:cNvSpPr>
          <p:nvPr>
            <p:ph/>
          </p:nvPr>
        </p:nvSpPr>
        <p:spPr>
          <a:xfrm>
            <a:off x="199440" y="109728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62" name="PlaceHolder 3"/>
          <p:cNvSpPr>
            <a:spLocks noGrp="1"/>
          </p:cNvSpPr>
          <p:nvPr>
            <p:ph/>
          </p:nvPr>
        </p:nvSpPr>
        <p:spPr>
          <a:xfrm>
            <a:off x="6234840" y="1097280"/>
            <a:ext cx="5747760" cy="539460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63" name="PlaceHolder 4"/>
          <p:cNvSpPr>
            <a:spLocks noGrp="1"/>
          </p:cNvSpPr>
          <p:nvPr>
            <p:ph/>
          </p:nvPr>
        </p:nvSpPr>
        <p:spPr>
          <a:xfrm>
            <a:off x="199440" y="391500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65" name="PlaceHolder 2"/>
          <p:cNvSpPr>
            <a:spLocks noGrp="1"/>
          </p:cNvSpPr>
          <p:nvPr>
            <p:ph/>
          </p:nvPr>
        </p:nvSpPr>
        <p:spPr>
          <a:xfrm>
            <a:off x="199440" y="1097280"/>
            <a:ext cx="5747760" cy="539460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66" name="PlaceHolder 3"/>
          <p:cNvSpPr>
            <a:spLocks noGrp="1"/>
          </p:cNvSpPr>
          <p:nvPr>
            <p:ph/>
          </p:nvPr>
        </p:nvSpPr>
        <p:spPr>
          <a:xfrm>
            <a:off x="6234840" y="109728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67" name="PlaceHolder 4"/>
          <p:cNvSpPr>
            <a:spLocks noGrp="1"/>
          </p:cNvSpPr>
          <p:nvPr>
            <p:ph/>
          </p:nvPr>
        </p:nvSpPr>
        <p:spPr>
          <a:xfrm>
            <a:off x="6234840" y="391500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8"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69" name="PlaceHolder 2"/>
          <p:cNvSpPr>
            <a:spLocks noGrp="1"/>
          </p:cNvSpPr>
          <p:nvPr>
            <p:ph/>
          </p:nvPr>
        </p:nvSpPr>
        <p:spPr>
          <a:xfrm>
            <a:off x="199440" y="109728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70" name="PlaceHolder 3"/>
          <p:cNvSpPr>
            <a:spLocks noGrp="1"/>
          </p:cNvSpPr>
          <p:nvPr>
            <p:ph/>
          </p:nvPr>
        </p:nvSpPr>
        <p:spPr>
          <a:xfrm>
            <a:off x="6234840" y="109728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71" name="PlaceHolder 4"/>
          <p:cNvSpPr>
            <a:spLocks noGrp="1"/>
          </p:cNvSpPr>
          <p:nvPr>
            <p:ph/>
          </p:nvPr>
        </p:nvSpPr>
        <p:spPr>
          <a:xfrm>
            <a:off x="199440" y="3915000"/>
            <a:ext cx="1177884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72"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73" name="PlaceHolder 2"/>
          <p:cNvSpPr>
            <a:spLocks noGrp="1"/>
          </p:cNvSpPr>
          <p:nvPr>
            <p:ph/>
          </p:nvPr>
        </p:nvSpPr>
        <p:spPr>
          <a:xfrm>
            <a:off x="199440" y="1097280"/>
            <a:ext cx="1177884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74" name="PlaceHolder 3"/>
          <p:cNvSpPr>
            <a:spLocks noGrp="1"/>
          </p:cNvSpPr>
          <p:nvPr>
            <p:ph/>
          </p:nvPr>
        </p:nvSpPr>
        <p:spPr>
          <a:xfrm>
            <a:off x="199440" y="3915000"/>
            <a:ext cx="1177884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76" name="PlaceHolder 2"/>
          <p:cNvSpPr>
            <a:spLocks noGrp="1"/>
          </p:cNvSpPr>
          <p:nvPr>
            <p:ph/>
          </p:nvPr>
        </p:nvSpPr>
        <p:spPr>
          <a:xfrm>
            <a:off x="199440" y="109728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77" name="PlaceHolder 3"/>
          <p:cNvSpPr>
            <a:spLocks noGrp="1"/>
          </p:cNvSpPr>
          <p:nvPr>
            <p:ph/>
          </p:nvPr>
        </p:nvSpPr>
        <p:spPr>
          <a:xfrm>
            <a:off x="6234840" y="109728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78" name="PlaceHolder 4"/>
          <p:cNvSpPr>
            <a:spLocks noGrp="1"/>
          </p:cNvSpPr>
          <p:nvPr>
            <p:ph/>
          </p:nvPr>
        </p:nvSpPr>
        <p:spPr>
          <a:xfrm>
            <a:off x="199440" y="391500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79" name="PlaceHolder 5"/>
          <p:cNvSpPr>
            <a:spLocks noGrp="1"/>
          </p:cNvSpPr>
          <p:nvPr>
            <p:ph/>
          </p:nvPr>
        </p:nvSpPr>
        <p:spPr>
          <a:xfrm>
            <a:off x="6234840" y="391500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80"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81" name="PlaceHolder 2"/>
          <p:cNvSpPr>
            <a:spLocks noGrp="1"/>
          </p:cNvSpPr>
          <p:nvPr>
            <p:ph/>
          </p:nvPr>
        </p:nvSpPr>
        <p:spPr>
          <a:xfrm>
            <a:off x="199440" y="1097280"/>
            <a:ext cx="379260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82" name="PlaceHolder 3"/>
          <p:cNvSpPr>
            <a:spLocks noGrp="1"/>
          </p:cNvSpPr>
          <p:nvPr>
            <p:ph/>
          </p:nvPr>
        </p:nvSpPr>
        <p:spPr>
          <a:xfrm>
            <a:off x="4182120" y="1097280"/>
            <a:ext cx="379260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83" name="PlaceHolder 4"/>
          <p:cNvSpPr>
            <a:spLocks noGrp="1"/>
          </p:cNvSpPr>
          <p:nvPr>
            <p:ph/>
          </p:nvPr>
        </p:nvSpPr>
        <p:spPr>
          <a:xfrm>
            <a:off x="8164800" y="1097280"/>
            <a:ext cx="379260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84" name="PlaceHolder 5"/>
          <p:cNvSpPr>
            <a:spLocks noGrp="1"/>
          </p:cNvSpPr>
          <p:nvPr>
            <p:ph/>
          </p:nvPr>
        </p:nvSpPr>
        <p:spPr>
          <a:xfrm>
            <a:off x="199440" y="3915000"/>
            <a:ext cx="379260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85" name="PlaceHolder 6"/>
          <p:cNvSpPr>
            <a:spLocks noGrp="1"/>
          </p:cNvSpPr>
          <p:nvPr>
            <p:ph/>
          </p:nvPr>
        </p:nvSpPr>
        <p:spPr>
          <a:xfrm>
            <a:off x="4182120" y="3915000"/>
            <a:ext cx="379260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86" name="PlaceHolder 7"/>
          <p:cNvSpPr>
            <a:spLocks noGrp="1"/>
          </p:cNvSpPr>
          <p:nvPr>
            <p:ph/>
          </p:nvPr>
        </p:nvSpPr>
        <p:spPr>
          <a:xfrm>
            <a:off x="8164800" y="3915000"/>
            <a:ext cx="379260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theme" Target="../theme/theme2.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Date Placeholder 3"/>
          <p:cNvSpPr/>
          <p:nvPr/>
        </p:nvSpPr>
        <p:spPr>
          <a:xfrm>
            <a:off x="777240" y="6634440"/>
            <a:ext cx="5781600" cy="220680"/>
          </a:xfrm>
          <a:prstGeom prst="rect">
            <a:avLst/>
          </a:prstGeom>
          <a:solidFill>
            <a:srgbClr val="002060"/>
          </a:solidFill>
          <a:ln w="0">
            <a:noFill/>
          </a:ln>
        </p:spPr>
        <p:style>
          <a:lnRef idx="0">
            <a:scrgbClr r="0" g="0" b="0"/>
          </a:lnRef>
          <a:fillRef idx="0">
            <a:scrgbClr r="0" g="0" b="0"/>
          </a:fillRef>
          <a:effectRef idx="0">
            <a:scrgbClr r="0" g="0" b="0"/>
          </a:effectRef>
          <a:fontRef idx="minor"/>
        </p:style>
      </p:sp>
      <p:sp>
        <p:nvSpPr>
          <p:cNvPr id="8" name="Date Placeholder 3"/>
          <p:cNvSpPr/>
          <p:nvPr/>
        </p:nvSpPr>
        <p:spPr>
          <a:xfrm>
            <a:off x="6559200" y="6634440"/>
            <a:ext cx="5194800" cy="220680"/>
          </a:xfrm>
          <a:prstGeom prst="rect">
            <a:avLst/>
          </a:prstGeom>
          <a:solidFill>
            <a:srgbClr val="008080"/>
          </a:solidFill>
          <a:ln w="0">
            <a:noFill/>
          </a:ln>
        </p:spPr>
        <p:style>
          <a:lnRef idx="0">
            <a:scrgbClr r="0" g="0" b="0"/>
          </a:lnRef>
          <a:fillRef idx="0">
            <a:scrgbClr r="0" g="0" b="0"/>
          </a:fillRef>
          <a:effectRef idx="0">
            <a:scrgbClr r="0" g="0" b="0"/>
          </a:effectRef>
          <a:fontRef idx="minor"/>
        </p:style>
      </p:sp>
      <p:sp>
        <p:nvSpPr>
          <p:cNvPr id="2" name="Date Placeholder 3"/>
          <p:cNvSpPr/>
          <p:nvPr/>
        </p:nvSpPr>
        <p:spPr>
          <a:xfrm>
            <a:off x="11754360" y="6636960"/>
            <a:ext cx="437400" cy="220680"/>
          </a:xfrm>
          <a:prstGeom prst="rect">
            <a:avLst/>
          </a:prstGeom>
          <a:solidFill>
            <a:schemeClr val="accent4"/>
          </a:solidFill>
          <a:ln w="0">
            <a:noFill/>
          </a:ln>
        </p:spPr>
        <p:style>
          <a:lnRef idx="0">
            <a:scrgbClr r="0" g="0" b="0"/>
          </a:lnRef>
          <a:fillRef idx="0">
            <a:scrgbClr r="0" g="0" b="0"/>
          </a:fillRef>
          <a:effectRef idx="0">
            <a:scrgbClr r="0" g="0" b="0"/>
          </a:effectRef>
          <a:fontRef idx="minor"/>
        </p:style>
      </p:sp>
      <p:sp>
        <p:nvSpPr>
          <p:cNvPr id="3" name="Date Placeholder 3"/>
          <p:cNvSpPr/>
          <p:nvPr/>
        </p:nvSpPr>
        <p:spPr>
          <a:xfrm>
            <a:off x="0" y="0"/>
            <a:ext cx="12191760" cy="232560"/>
          </a:xfrm>
          <a:prstGeom prst="rect">
            <a:avLst/>
          </a:prstGeom>
          <a:solidFill>
            <a:srgbClr val="006666"/>
          </a:solidFill>
          <a:ln w="0">
            <a:noFill/>
          </a:ln>
        </p:spPr>
        <p:style>
          <a:lnRef idx="0">
            <a:scrgbClr r="0" g="0" b="0"/>
          </a:lnRef>
          <a:fillRef idx="0">
            <a:scrgbClr r="0" g="0" b="0"/>
          </a:fillRef>
          <a:effectRef idx="0">
            <a:scrgbClr r="0" g="0" b="0"/>
          </a:effectRef>
          <a:fontRef idx="minor"/>
        </p:style>
      </p:sp>
      <p:sp>
        <p:nvSpPr>
          <p:cNvPr id="4" name="Date Placeholder 3"/>
          <p:cNvSpPr/>
          <p:nvPr/>
        </p:nvSpPr>
        <p:spPr>
          <a:xfrm>
            <a:off x="0" y="6634440"/>
            <a:ext cx="776880" cy="221040"/>
          </a:xfrm>
          <a:prstGeom prst="rect">
            <a:avLst/>
          </a:prstGeom>
          <a:solidFill>
            <a:schemeClr val="accent2">
              <a:lumMod val="75000"/>
            </a:schemeClr>
          </a:solidFill>
          <a:ln w="0">
            <a:noFill/>
          </a:ln>
        </p:spPr>
        <p:style>
          <a:lnRef idx="0">
            <a:scrgbClr r="0" g="0" b="0"/>
          </a:lnRef>
          <a:fillRef idx="0">
            <a:scrgbClr r="0" g="0" b="0"/>
          </a:fillRef>
          <a:effectRef idx="0">
            <a:scrgbClr r="0" g="0" b="0"/>
          </a:effectRef>
          <a:fontRef idx="minor"/>
        </p:style>
      </p:sp>
      <p:sp>
        <p:nvSpPr>
          <p:cNvPr id="5"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r>
              <a:rPr lang="en-US" sz="1800" b="0" strike="noStrike" spc="-1">
                <a:solidFill>
                  <a:srgbClr val="000000"/>
                </a:solidFill>
                <a:latin typeface="Calibri" panose="020F0502020204030204"/>
              </a:rPr>
              <a:t>Click to edit the title text format</a:t>
            </a:r>
          </a:p>
        </p:txBody>
      </p:sp>
      <p:sp>
        <p:nvSpPr>
          <p:cNvPr id="6"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1800" indent="-323850" algn="just">
              <a:spcBef>
                <a:spcPts val="1415"/>
              </a:spcBef>
              <a:buClr>
                <a:srgbClr val="000000"/>
              </a:buClr>
              <a:buSzPct val="45000"/>
              <a:buFont typeface="Wingdings" panose="05000000000000000000" pitchFamily="2" charset="2"/>
              <a:buChar char=""/>
            </a:pPr>
            <a:r>
              <a:rPr lang="en-US" sz="2800" b="0" strike="noStrike" spc="-1">
                <a:solidFill>
                  <a:srgbClr val="000000"/>
                </a:solidFill>
                <a:latin typeface="Times New Roman" panose="02020603050405020304"/>
              </a:rPr>
              <a:t>Click to edit the outline text format</a:t>
            </a:r>
          </a:p>
          <a:p>
            <a:pPr marL="864235" lvl="1" indent="-323850" algn="just">
              <a:spcBef>
                <a:spcPts val="1135"/>
              </a:spcBef>
              <a:buClr>
                <a:srgbClr val="000000"/>
              </a:buClr>
              <a:buSzPct val="75000"/>
              <a:buFont typeface="Symbol" panose="05050102010706020507" charset="2"/>
              <a:buChar char=""/>
            </a:pPr>
            <a:r>
              <a:rPr lang="en-US" sz="2000" b="0" strike="noStrike" spc="-1">
                <a:solidFill>
                  <a:srgbClr val="000000"/>
                </a:solidFill>
                <a:latin typeface="Times New Roman" panose="02020603050405020304"/>
              </a:rPr>
              <a:t>Second Outline Level</a:t>
            </a:r>
          </a:p>
          <a:p>
            <a:pPr marL="1296035" lvl="2" indent="-288290" algn="just">
              <a:spcBef>
                <a:spcPts val="850"/>
              </a:spcBef>
              <a:buClr>
                <a:srgbClr val="000000"/>
              </a:buClr>
              <a:buSzPct val="45000"/>
              <a:buFont typeface="Wingdings" panose="05000000000000000000" pitchFamily="2" charset="2"/>
              <a:buChar char=""/>
            </a:pPr>
            <a:r>
              <a:rPr lang="en-US" sz="1800" b="0" strike="noStrike" spc="-1">
                <a:solidFill>
                  <a:srgbClr val="000000"/>
                </a:solidFill>
                <a:latin typeface="Times New Roman" panose="02020603050405020304"/>
              </a:rPr>
              <a:t>Third Outline Level</a:t>
            </a:r>
          </a:p>
          <a:p>
            <a:pPr marL="1727835" lvl="3" indent="-215900" algn="just">
              <a:spcBef>
                <a:spcPts val="565"/>
              </a:spcBef>
              <a:buClr>
                <a:srgbClr val="000000"/>
              </a:buClr>
              <a:buSzPct val="75000"/>
              <a:buFont typeface="Symbol" panose="05050102010706020507" charset="2"/>
              <a:buChar char=""/>
            </a:pPr>
            <a:r>
              <a:rPr lang="en-US" sz="1800" b="0" strike="noStrike" spc="-1">
                <a:solidFill>
                  <a:srgbClr val="000000"/>
                </a:solidFill>
                <a:latin typeface="Times New Roman" panose="02020603050405020304"/>
              </a:rPr>
              <a:t>Fourth Outline Level</a:t>
            </a:r>
          </a:p>
          <a:p>
            <a:pPr marL="2160270" lvl="4" indent="-215900" algn="just">
              <a:spcBef>
                <a:spcPts val="285"/>
              </a:spcBef>
              <a:buClr>
                <a:srgbClr val="000000"/>
              </a:buClr>
              <a:buSzPct val="45000"/>
              <a:buFont typeface="Wingdings" panose="05000000000000000000" pitchFamily="2" charset="2"/>
              <a:buChar char=""/>
            </a:pPr>
            <a:r>
              <a:rPr lang="en-US" sz="2000" b="0" strike="noStrike" spc="-1">
                <a:solidFill>
                  <a:srgbClr val="000000"/>
                </a:solidFill>
                <a:latin typeface="Times New Roman" panose="02020603050405020304"/>
              </a:rPr>
              <a:t>Fifth Outline Level</a:t>
            </a:r>
          </a:p>
          <a:p>
            <a:pPr marL="2592070" lvl="5" indent="-215900" algn="just">
              <a:spcBef>
                <a:spcPts val="285"/>
              </a:spcBef>
              <a:buClr>
                <a:srgbClr val="000000"/>
              </a:buClr>
              <a:buSzPct val="45000"/>
              <a:buFont typeface="Wingdings" panose="05000000000000000000" pitchFamily="2" charset="2"/>
              <a:buChar char=""/>
            </a:pPr>
            <a:r>
              <a:rPr lang="en-US" sz="2000" b="0" strike="noStrike" spc="-1">
                <a:solidFill>
                  <a:srgbClr val="000000"/>
                </a:solidFill>
                <a:latin typeface="Times New Roman" panose="02020603050405020304"/>
              </a:rPr>
              <a:t>Sixth Outline Level</a:t>
            </a:r>
          </a:p>
          <a:p>
            <a:pPr marL="3023870" lvl="6" indent="-215900" algn="just">
              <a:spcBef>
                <a:spcPts val="285"/>
              </a:spcBef>
              <a:buClr>
                <a:srgbClr val="000000"/>
              </a:buClr>
              <a:buSzPct val="45000"/>
              <a:buFont typeface="Wingdings" panose="05000000000000000000" pitchFamily="2" charset="2"/>
              <a:buChar char=""/>
            </a:pPr>
            <a:r>
              <a:rPr lang="en-US" sz="2000" b="0" strike="noStrike" spc="-1">
                <a:solidFill>
                  <a:srgbClr val="000000"/>
                </a:solidFill>
                <a:latin typeface="Times New Roman" panose="02020603050405020304"/>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3" name="PlaceHolder 1"/>
          <p:cNvSpPr>
            <a:spLocks noGrp="1"/>
          </p:cNvSpPr>
          <p:nvPr>
            <p:ph type="title"/>
          </p:nvPr>
        </p:nvSpPr>
        <p:spPr>
          <a:xfrm>
            <a:off x="0" y="232920"/>
            <a:ext cx="12191760" cy="714600"/>
          </a:xfrm>
          <a:prstGeom prst="rect">
            <a:avLst/>
          </a:prstGeom>
          <a:solidFill>
            <a:srgbClr val="FF6600"/>
          </a:solidFill>
          <a:ln w="0">
            <a:noFill/>
          </a:ln>
          <a:effectLst>
            <a:outerShdw blurRad="44280" dist="28080" dir="5400000" rotWithShape="0">
              <a:srgbClr val="000000">
                <a:alpha val="32000"/>
              </a:srgbClr>
            </a:outerShdw>
          </a:effectLst>
        </p:spPr>
        <p:txBody>
          <a:bodyPr lIns="90000" tIns="45000" rIns="90000" bIns="45000" anchor="t">
            <a:noAutofit/>
          </a:bodyPr>
          <a:lstStyle/>
          <a:p>
            <a:pPr>
              <a:lnSpc>
                <a:spcPct val="90000"/>
              </a:lnSpc>
            </a:pPr>
            <a:r>
              <a:rPr lang="en-US" sz="4400" b="0" strike="noStrike" spc="-1">
                <a:solidFill>
                  <a:srgbClr val="FFFFFF"/>
                </a:solidFill>
                <a:latin typeface="Times New Roman" panose="02020603050405020304"/>
              </a:rPr>
              <a:t>Click to edit Master title style</a:t>
            </a:r>
            <a:endParaRPr lang="en-US" sz="4400" b="0" strike="noStrike" spc="-1">
              <a:solidFill>
                <a:srgbClr val="000000"/>
              </a:solidFill>
              <a:latin typeface="Calibri" panose="020F0502020204030204"/>
            </a:endParaRPr>
          </a:p>
        </p:txBody>
      </p:sp>
      <p:sp>
        <p:nvSpPr>
          <p:cNvPr id="44" name="PlaceHolder 2"/>
          <p:cNvSpPr>
            <a:spLocks noGrp="1"/>
          </p:cNvSpPr>
          <p:nvPr>
            <p:ph type="body"/>
          </p:nvPr>
        </p:nvSpPr>
        <p:spPr>
          <a:xfrm>
            <a:off x="199440" y="1097280"/>
            <a:ext cx="11778840" cy="5394600"/>
          </a:xfrm>
          <a:prstGeom prst="rect">
            <a:avLst/>
          </a:prstGeom>
          <a:noFill/>
          <a:ln w="0">
            <a:noFill/>
          </a:ln>
        </p:spPr>
        <p:txBody>
          <a:bodyPr anchor="t">
            <a:noAutofit/>
          </a:bodyPr>
          <a:lstStyle/>
          <a:p>
            <a:pPr marL="228600" indent="-228600" algn="just">
              <a:lnSpc>
                <a:spcPct val="90000"/>
              </a:lnSpc>
              <a:spcBef>
                <a:spcPts val="1000"/>
              </a:spcBef>
              <a:buClr>
                <a:srgbClr val="000000"/>
              </a:buClr>
              <a:buFont typeface="Wingdings" panose="05000000000000000000" pitchFamily="2" charset="2"/>
              <a:buChar char=""/>
            </a:pPr>
            <a:r>
              <a:rPr lang="en-US" sz="2800" b="0" strike="noStrike" spc="-1">
                <a:solidFill>
                  <a:srgbClr val="000000"/>
                </a:solidFill>
                <a:latin typeface="Times New Roman" panose="02020603050405020304"/>
              </a:rPr>
              <a:t>Edit Master text styles</a:t>
            </a:r>
          </a:p>
          <a:p>
            <a:pPr marL="685800" lvl="1" indent="-228600" algn="just">
              <a:lnSpc>
                <a:spcPct val="90000"/>
              </a:lnSpc>
              <a:spcBef>
                <a:spcPts val="500"/>
              </a:spcBef>
              <a:buClr>
                <a:srgbClr val="000000"/>
              </a:buClr>
              <a:buFont typeface="Wingdings" panose="05000000000000000000" pitchFamily="2" charset="2"/>
              <a:buChar char=""/>
            </a:pPr>
            <a:r>
              <a:rPr lang="en-US" sz="2400" b="0" strike="noStrike" spc="-1">
                <a:solidFill>
                  <a:srgbClr val="000000"/>
                </a:solidFill>
                <a:latin typeface="Times New Roman" panose="02020603050405020304"/>
              </a:rPr>
              <a:t>Second level</a:t>
            </a:r>
          </a:p>
          <a:p>
            <a:pPr marL="1143000" lvl="2" indent="-228600" algn="just">
              <a:lnSpc>
                <a:spcPct val="90000"/>
              </a:lnSpc>
              <a:spcBef>
                <a:spcPts val="500"/>
              </a:spcBef>
              <a:buClr>
                <a:srgbClr val="000000"/>
              </a:buClr>
              <a:buFont typeface="Courier New" panose="02070309020205020404"/>
              <a:buChar char="o"/>
            </a:pPr>
            <a:r>
              <a:rPr lang="en-US" sz="2000" b="0" strike="noStrike" spc="-1">
                <a:solidFill>
                  <a:srgbClr val="000000"/>
                </a:solidFill>
                <a:latin typeface="Times New Roman" panose="02020603050405020304"/>
              </a:rPr>
              <a:t>Third level</a:t>
            </a:r>
          </a:p>
          <a:p>
            <a:pPr marL="1600200" lvl="3" indent="-228600" algn="just">
              <a:lnSpc>
                <a:spcPct val="90000"/>
              </a:lnSpc>
              <a:spcBef>
                <a:spcPts val="500"/>
              </a:spcBef>
              <a:buClr>
                <a:srgbClr val="000000"/>
              </a:buClr>
              <a:buFont typeface="Wingdings" panose="05000000000000000000" pitchFamily="2" charset="2"/>
              <a:buChar char=""/>
            </a:pPr>
            <a:r>
              <a:rPr lang="en-US" sz="1800" b="0" strike="noStrike" spc="-1">
                <a:solidFill>
                  <a:srgbClr val="000000"/>
                </a:solidFill>
                <a:latin typeface="Times New Roman" panose="02020603050405020304"/>
              </a:rPr>
              <a:t>Fourth level</a:t>
            </a:r>
          </a:p>
          <a:p>
            <a:pPr marL="2057400" lvl="4" indent="-228600" algn="just">
              <a:lnSpc>
                <a:spcPct val="90000"/>
              </a:lnSpc>
              <a:spcBef>
                <a:spcPts val="500"/>
              </a:spcBef>
              <a:buClr>
                <a:srgbClr val="000000"/>
              </a:buClr>
              <a:buFont typeface="Arial" panose="020B0604020202020204"/>
              <a:buChar char="•"/>
            </a:pPr>
            <a:r>
              <a:rPr lang="en-US" sz="1800" b="0" strike="noStrike" spc="-1">
                <a:solidFill>
                  <a:srgbClr val="000000"/>
                </a:solidFill>
                <a:latin typeface="Times New Roman" panose="02020603050405020304"/>
              </a:rPr>
              <a:t>Fifth level</a:t>
            </a:r>
          </a:p>
        </p:txBody>
      </p:sp>
      <p:sp>
        <p:nvSpPr>
          <p:cNvPr id="45" name="Date Placeholder 3"/>
          <p:cNvSpPr/>
          <p:nvPr/>
        </p:nvSpPr>
        <p:spPr>
          <a:xfrm>
            <a:off x="777240" y="6642720"/>
            <a:ext cx="5653800" cy="214920"/>
          </a:xfrm>
          <a:prstGeom prst="rect">
            <a:avLst/>
          </a:prstGeom>
          <a:solidFill>
            <a:srgbClr val="002060"/>
          </a:solidFill>
          <a:ln w="0">
            <a:noFill/>
          </a:ln>
        </p:spPr>
        <p:style>
          <a:lnRef idx="0">
            <a:scrgbClr r="0" g="0" b="0"/>
          </a:lnRef>
          <a:fillRef idx="0">
            <a:scrgbClr r="0" g="0" b="0"/>
          </a:fillRef>
          <a:effectRef idx="0">
            <a:scrgbClr r="0" g="0" b="0"/>
          </a:effectRef>
          <a:fontRef idx="minor"/>
        </p:style>
        <p:txBody>
          <a:bodyPr anchor="ctr">
            <a:noAutofit/>
          </a:bodyPr>
          <a:lstStyle/>
          <a:p>
            <a:pPr algn="ctr">
              <a:lnSpc>
                <a:spcPct val="100000"/>
              </a:lnSpc>
            </a:pPr>
            <a:r>
              <a:rPr lang="en-US" sz="1600" b="0" strike="noStrike" cap="small" spc="-1" dirty="0">
                <a:solidFill>
                  <a:srgbClr val="FFFFFF"/>
                </a:solidFill>
                <a:latin typeface="Times New Roman" panose="02020603050405020304"/>
              </a:rPr>
              <a:t>Dept. of Computer Science and Engineering</a:t>
            </a:r>
            <a:endParaRPr lang="en-IN" sz="1600" b="0" strike="noStrike" spc="-1" dirty="0">
              <a:latin typeface="Arial" panose="020B0604020202020204"/>
            </a:endParaRPr>
          </a:p>
        </p:txBody>
      </p:sp>
      <p:sp>
        <p:nvSpPr>
          <p:cNvPr id="46" name="Date Placeholder 3"/>
          <p:cNvSpPr/>
          <p:nvPr/>
        </p:nvSpPr>
        <p:spPr>
          <a:xfrm>
            <a:off x="6431400" y="6642000"/>
            <a:ext cx="5322600" cy="215640"/>
          </a:xfrm>
          <a:prstGeom prst="rect">
            <a:avLst/>
          </a:prstGeom>
          <a:solidFill>
            <a:srgbClr val="008080"/>
          </a:solidFill>
          <a:ln w="0">
            <a:noFill/>
          </a:ln>
        </p:spPr>
        <p:style>
          <a:lnRef idx="0">
            <a:scrgbClr r="0" g="0" b="0"/>
          </a:lnRef>
          <a:fillRef idx="0">
            <a:scrgbClr r="0" g="0" b="0"/>
          </a:fillRef>
          <a:effectRef idx="0">
            <a:scrgbClr r="0" g="0" b="0"/>
          </a:effectRef>
          <a:fontRef idx="minor"/>
        </p:style>
        <p:txBody>
          <a:bodyPr anchor="ctr">
            <a:noAutofit/>
          </a:bodyPr>
          <a:lstStyle/>
          <a:p>
            <a:pPr algn="ctr">
              <a:lnSpc>
                <a:spcPct val="100000"/>
              </a:lnSpc>
            </a:pPr>
            <a:r>
              <a:rPr lang="en-US" sz="1600" b="0" strike="noStrike" cap="small" spc="-1">
                <a:solidFill>
                  <a:srgbClr val="FFFFFF"/>
                </a:solidFill>
                <a:latin typeface="Times New Roman" panose="02020603050405020304"/>
              </a:rPr>
              <a:t>Srinivasa Ramanujan Institute of Technology</a:t>
            </a:r>
            <a:endParaRPr lang="en-IN" sz="1600" b="0" strike="noStrike" spc="-1">
              <a:latin typeface="Arial" panose="020B0604020202020204"/>
            </a:endParaRPr>
          </a:p>
        </p:txBody>
      </p:sp>
      <p:sp>
        <p:nvSpPr>
          <p:cNvPr id="47" name="Date Placeholder 3"/>
          <p:cNvSpPr/>
          <p:nvPr/>
        </p:nvSpPr>
        <p:spPr>
          <a:xfrm>
            <a:off x="11623040" y="6642100"/>
            <a:ext cx="568960" cy="215900"/>
          </a:xfrm>
          <a:prstGeom prst="rect">
            <a:avLst/>
          </a:prstGeom>
          <a:solidFill>
            <a:schemeClr val="accent4"/>
          </a:solidFill>
          <a:ln w="0">
            <a:noFill/>
          </a:ln>
        </p:spPr>
        <p:style>
          <a:lnRef idx="0">
            <a:scrgbClr r="0" g="0" b="0"/>
          </a:lnRef>
          <a:fillRef idx="0">
            <a:scrgbClr r="0" g="0" b="0"/>
          </a:fillRef>
          <a:effectRef idx="0">
            <a:scrgbClr r="0" g="0" b="0"/>
          </a:effectRef>
          <a:fontRef idx="minor"/>
        </p:style>
        <p:txBody>
          <a:bodyPr anchor="ctr">
            <a:noAutofit/>
          </a:bodyPr>
          <a:lstStyle/>
          <a:p>
            <a:pPr algn="ctr">
              <a:lnSpc>
                <a:spcPct val="100000"/>
              </a:lnSpc>
            </a:pPr>
            <a:fld id="{287FBA57-AD8A-4D8D-8881-00EAA4F18DD5}" type="slidenum">
              <a:rPr lang="en-IN" sz="1600" b="1" strike="noStrike" spc="-1">
                <a:solidFill>
                  <a:srgbClr val="002060"/>
                </a:solidFill>
                <a:latin typeface="Times New Roman" panose="02020603050405020304"/>
              </a:rPr>
              <a:t>‹#›</a:t>
            </a:fld>
            <a:endParaRPr lang="en-IN" sz="1600" b="0" strike="noStrike" spc="-1">
              <a:latin typeface="Arial" panose="020B0604020202020204"/>
            </a:endParaRPr>
          </a:p>
        </p:txBody>
      </p:sp>
      <p:sp>
        <p:nvSpPr>
          <p:cNvPr id="48" name="Date Placeholder 3"/>
          <p:cNvSpPr/>
          <p:nvPr/>
        </p:nvSpPr>
        <p:spPr>
          <a:xfrm>
            <a:off x="0" y="0"/>
            <a:ext cx="12191760" cy="232560"/>
          </a:xfrm>
          <a:prstGeom prst="rect">
            <a:avLst/>
          </a:prstGeom>
          <a:solidFill>
            <a:srgbClr val="006666"/>
          </a:solidFill>
          <a:ln w="0">
            <a:noFill/>
          </a:ln>
        </p:spPr>
        <p:style>
          <a:lnRef idx="0">
            <a:scrgbClr r="0" g="0" b="0"/>
          </a:lnRef>
          <a:fillRef idx="0">
            <a:scrgbClr r="0" g="0" b="0"/>
          </a:fillRef>
          <a:effectRef idx="0">
            <a:scrgbClr r="0" g="0" b="0"/>
          </a:effectRef>
          <a:fontRef idx="minor"/>
        </p:style>
        <p:txBody>
          <a:bodyPr anchor="ctr">
            <a:noAutofit/>
          </a:bodyPr>
          <a:lstStyle/>
          <a:p>
            <a:pPr algn="ctr">
              <a:lnSpc>
                <a:spcPct val="100000"/>
              </a:lnSpc>
            </a:pPr>
            <a:r>
              <a:rPr lang="en-US" sz="1500" b="1" i="1" strike="noStrike" spc="-1">
                <a:solidFill>
                  <a:srgbClr val="FFFFFF"/>
                </a:solidFill>
                <a:latin typeface="Times New Roman" panose="02020603050405020304"/>
              </a:rPr>
              <a:t>Title of the Project</a:t>
            </a:r>
            <a:endParaRPr lang="en-IN" sz="1500" b="0" strike="noStrike" spc="-1">
              <a:latin typeface="Arial" panose="020B0604020202020204"/>
            </a:endParaRPr>
          </a:p>
        </p:txBody>
      </p:sp>
      <p:pic>
        <p:nvPicPr>
          <p:cNvPr id="49" name="Picture 5"/>
          <p:cNvPicPr/>
          <p:nvPr/>
        </p:nvPicPr>
        <p:blipFill>
          <a:blip r:embed="rId14" cstate="print"/>
          <a:stretch>
            <a:fillRect/>
          </a:stretch>
        </p:blipFill>
        <p:spPr>
          <a:xfrm>
            <a:off x="11506320" y="5956200"/>
            <a:ext cx="685440" cy="685440"/>
          </a:xfrm>
          <a:prstGeom prst="rect">
            <a:avLst/>
          </a:prstGeom>
          <a:ln w="0">
            <a:noFill/>
          </a:ln>
        </p:spPr>
      </p:pic>
      <p:sp>
        <p:nvSpPr>
          <p:cNvPr id="50" name="Date Placeholder 3"/>
          <p:cNvSpPr/>
          <p:nvPr/>
        </p:nvSpPr>
        <p:spPr>
          <a:xfrm>
            <a:off x="0" y="6642735"/>
            <a:ext cx="932815" cy="214630"/>
          </a:xfrm>
          <a:prstGeom prst="rect">
            <a:avLst/>
          </a:prstGeom>
          <a:solidFill>
            <a:schemeClr val="accent2">
              <a:lumMod val="75000"/>
            </a:schemeClr>
          </a:solidFill>
          <a:ln w="0">
            <a:noFill/>
          </a:ln>
        </p:spPr>
        <p:style>
          <a:lnRef idx="0">
            <a:scrgbClr r="0" g="0" b="0"/>
          </a:lnRef>
          <a:fillRef idx="0">
            <a:scrgbClr r="0" g="0" b="0"/>
          </a:fillRef>
          <a:effectRef idx="0">
            <a:scrgbClr r="0" g="0" b="0"/>
          </a:effectRef>
          <a:fontRef idx="minor"/>
        </p:style>
        <p:txBody>
          <a:bodyPr anchor="ctr">
            <a:noAutofit/>
          </a:bodyPr>
          <a:lstStyle/>
          <a:p>
            <a:pPr algn="ctr">
              <a:lnSpc>
                <a:spcPct val="100000"/>
              </a:lnSpc>
            </a:pPr>
            <a:r>
              <a:rPr lang="en-US" sz="1600" b="0" strike="noStrike" cap="small" spc="-1">
                <a:solidFill>
                  <a:srgbClr val="FFFFFF"/>
                </a:solidFill>
                <a:latin typeface="Times New Roman" panose="02020603050405020304"/>
              </a:rPr>
              <a:t>A - XX</a:t>
            </a:r>
            <a:endParaRPr lang="en-IN" sz="1600" b="0" strike="noStrike" spc="-1">
              <a:latin typeface="Arial" panose="020B0604020202020204"/>
            </a:endParaRPr>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Lst>
  <p:txStyles>
    <p:titleStyle/>
    <p:bodyStyle/>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11"/>
          <p:cNvSpPr txBox="1"/>
          <p:nvPr/>
        </p:nvSpPr>
        <p:spPr>
          <a:xfrm>
            <a:off x="8001000" y="1783000"/>
            <a:ext cx="2382924" cy="584534"/>
          </a:xfrm>
          <a:prstGeom prst="rect">
            <a:avLst/>
          </a:prstGeom>
        </p:spPr>
        <p:txBody>
          <a:bodyPr vert="horz" lIns="91440" tIns="45720" rIns="91440" bIns="45720" rtlCol="0">
            <a:normAutofit fontScale="40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IN" sz="5400" b="0" dirty="0" smtClean="0">
                <a:effectLst>
                  <a:outerShdw blurRad="38100" dist="38100" dir="2700000" algn="tl">
                    <a:srgbClr val="000000">
                      <a:alpha val="43137"/>
                    </a:srgbClr>
                  </a:outerShdw>
                </a:effectLst>
              </a:rPr>
              <a:t>JANARDHAN P</a:t>
            </a:r>
            <a:endParaRPr lang="en-US" sz="5400" b="0" dirty="0">
              <a:effectLst>
                <a:outerShdw blurRad="38100" dist="38100" dir="2700000" algn="tl">
                  <a:srgbClr val="000000">
                    <a:alpha val="43137"/>
                  </a:srgbClr>
                </a:outerShdw>
              </a:effectLst>
            </a:endParaRPr>
          </a:p>
          <a:p>
            <a:pPr>
              <a:spcBef>
                <a:spcPts val="300"/>
              </a:spcBef>
            </a:pPr>
            <a:r>
              <a:rPr lang="en-US" sz="2800" b="0" dirty="0"/>
              <a:t>Roll No. </a:t>
            </a:r>
            <a:r>
              <a:rPr lang="en-US" sz="2800" b="0" dirty="0" smtClean="0"/>
              <a:t>234G5A0503</a:t>
            </a:r>
            <a:endParaRPr lang="en-US" sz="2800" b="0" dirty="0"/>
          </a:p>
        </p:txBody>
      </p:sp>
      <p:sp>
        <p:nvSpPr>
          <p:cNvPr id="6" name="Subtitle 11"/>
          <p:cNvSpPr txBox="1"/>
          <p:nvPr/>
        </p:nvSpPr>
        <p:spPr>
          <a:xfrm>
            <a:off x="3759654" y="2475580"/>
            <a:ext cx="4672674" cy="89804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1400" b="0" i="1" dirty="0"/>
              <a:t>Under the guidance of</a:t>
            </a:r>
          </a:p>
          <a:p>
            <a:pPr>
              <a:spcBef>
                <a:spcPts val="200"/>
              </a:spcBef>
            </a:pPr>
            <a:r>
              <a:rPr lang="en-IN" sz="2400" b="0" dirty="0" smtClean="0">
                <a:effectLst>
                  <a:outerShdw blurRad="38100" dist="38100" dir="2700000" algn="tl">
                    <a:srgbClr val="000000">
                      <a:alpha val="43137"/>
                    </a:srgbClr>
                  </a:outerShdw>
                </a:effectLst>
              </a:rPr>
              <a:t>  Dr P VEERA PRAKASH, </a:t>
            </a:r>
            <a:r>
              <a:rPr lang="en-IN" sz="1200" b="0" dirty="0" err="1" smtClean="0">
                <a:effectLst>
                  <a:outerShdw blurRad="38100" dist="38100" dir="2700000" algn="tl">
                    <a:srgbClr val="000000">
                      <a:alpha val="43137"/>
                    </a:srgbClr>
                  </a:outerShdw>
                </a:effectLst>
              </a:rPr>
              <a:t>M.Tech</a:t>
            </a:r>
            <a:r>
              <a:rPr lang="en-IN" sz="1200" b="0" dirty="0" smtClean="0">
                <a:effectLst>
                  <a:outerShdw blurRad="38100" dist="38100" dir="2700000" algn="tl">
                    <a:srgbClr val="000000">
                      <a:alpha val="43137"/>
                    </a:srgbClr>
                  </a:outerShdw>
                </a:effectLst>
              </a:rPr>
              <a:t>., Ph.D</a:t>
            </a:r>
            <a:r>
              <a:rPr lang="en-IN" sz="1050" b="0" dirty="0" smtClean="0">
                <a:effectLst>
                  <a:outerShdw blurRad="38100" dist="38100" dir="2700000" algn="tl">
                    <a:srgbClr val="000000">
                      <a:alpha val="43137"/>
                    </a:srgbClr>
                  </a:outerShdw>
                </a:effectLst>
              </a:rPr>
              <a:t>.</a:t>
            </a:r>
            <a:endParaRPr lang="en-IN" sz="1050" b="0" dirty="0">
              <a:effectLst>
                <a:outerShdw blurRad="38100" dist="38100" dir="2700000" algn="tl">
                  <a:srgbClr val="000000">
                    <a:alpha val="43137"/>
                  </a:srgbClr>
                </a:outerShdw>
              </a:effectLst>
            </a:endParaRPr>
          </a:p>
          <a:p>
            <a:pPr>
              <a:spcBef>
                <a:spcPts val="200"/>
              </a:spcBef>
            </a:pPr>
            <a:r>
              <a:rPr lang="en-IN" sz="2400" b="0" dirty="0" smtClean="0">
                <a:effectLst>
                  <a:outerShdw blurRad="38100" dist="38100" dir="2700000" algn="tl">
                    <a:srgbClr val="000000">
                      <a:alpha val="43137"/>
                    </a:srgbClr>
                  </a:outerShdw>
                </a:effectLst>
              </a:rPr>
              <a:t>Assistant Professor</a:t>
            </a:r>
            <a:endParaRPr lang="en-IN" sz="1400" b="0" dirty="0"/>
          </a:p>
        </p:txBody>
      </p:sp>
      <p:sp>
        <p:nvSpPr>
          <p:cNvPr id="7" name="Subtitle 11"/>
          <p:cNvSpPr txBox="1"/>
          <p:nvPr/>
        </p:nvSpPr>
        <p:spPr>
          <a:xfrm>
            <a:off x="1514475" y="5162533"/>
            <a:ext cx="9163049" cy="1427181"/>
          </a:xfrm>
          <a:prstGeom prst="rect">
            <a:avLst/>
          </a:prstGeom>
        </p:spPr>
        <p:txBody>
          <a:bodyPr vert="horz" lIns="91440" tIns="45720" rIns="91440" bIns="45720" rtlCol="0">
            <a:normAutofit fontScale="5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500"/>
              </a:spcBef>
            </a:pPr>
            <a:r>
              <a:rPr lang="en-US" sz="4200" b="0" dirty="0">
                <a:effectLst>
                  <a:outerShdw blurRad="38100" dist="38100" dir="2700000" algn="tl">
                    <a:srgbClr val="000000">
                      <a:alpha val="43137"/>
                    </a:srgbClr>
                  </a:outerShdw>
                </a:effectLst>
              </a:rPr>
              <a:t>Department of Computer Science and Engineering (AI&amp;ML)    </a:t>
            </a:r>
          </a:p>
          <a:p>
            <a:pPr>
              <a:spcBef>
                <a:spcPts val="500"/>
              </a:spcBef>
            </a:pPr>
            <a:r>
              <a:rPr lang="en-US" sz="6500" b="0" dirty="0">
                <a:solidFill>
                  <a:srgbClr val="FF0000"/>
                </a:solidFill>
                <a:effectLst>
                  <a:outerShdw blurRad="38100" dist="38100" dir="2700000" algn="tl">
                    <a:srgbClr val="000000">
                      <a:alpha val="43137"/>
                    </a:srgbClr>
                  </a:outerShdw>
                </a:effectLst>
              </a:rPr>
              <a:t>Srinivasa Ramanujan Institute of Technology</a:t>
            </a:r>
          </a:p>
          <a:p>
            <a:pPr>
              <a:spcBef>
                <a:spcPts val="300"/>
              </a:spcBef>
            </a:pPr>
            <a:r>
              <a:rPr lang="en-US" sz="3400" dirty="0">
                <a:effectLst/>
                <a:ea typeface="Times New Roman" panose="02020603050405020304" pitchFamily="18" charset="0"/>
              </a:rPr>
              <a:t>Autonomous</a:t>
            </a:r>
            <a:endParaRPr lang="en-US" sz="3400" b="0" dirty="0"/>
          </a:p>
          <a:p>
            <a:pPr>
              <a:spcBef>
                <a:spcPts val="300"/>
              </a:spcBef>
            </a:pPr>
            <a:r>
              <a:rPr lang="en-US" sz="2300" dirty="0" err="1"/>
              <a:t>Rotarypuram</a:t>
            </a:r>
            <a:r>
              <a:rPr lang="en-US" sz="2300" dirty="0"/>
              <a:t> Village, B K </a:t>
            </a:r>
            <a:r>
              <a:rPr lang="en-US" sz="2300" dirty="0" err="1"/>
              <a:t>Samudram</a:t>
            </a:r>
            <a:r>
              <a:rPr lang="en-US" sz="2300" dirty="0"/>
              <a:t> Mandal, </a:t>
            </a:r>
            <a:r>
              <a:rPr lang="en-US" sz="2300" dirty="0" err="1"/>
              <a:t>Ananthapuramu</a:t>
            </a:r>
            <a:r>
              <a:rPr lang="en-US" sz="2300" dirty="0"/>
              <a:t> – 515701.</a:t>
            </a:r>
          </a:p>
          <a:p>
            <a:pPr>
              <a:spcAft>
                <a:spcPts val="100"/>
              </a:spcAft>
            </a:pPr>
            <a:r>
              <a:rPr lang="en-US" sz="2500" dirty="0" smtClean="0">
                <a:solidFill>
                  <a:schemeClr val="accent1">
                    <a:lumMod val="50000"/>
                  </a:schemeClr>
                </a:solidFill>
              </a:rPr>
              <a:t>2025-2026</a:t>
            </a:r>
            <a:endParaRPr lang="en-US" sz="2500" b="0" dirty="0"/>
          </a:p>
          <a:p>
            <a:endParaRPr lang="en-IN" b="0" dirty="0"/>
          </a:p>
        </p:txBody>
      </p:sp>
      <p:sp>
        <p:nvSpPr>
          <p:cNvPr id="12" name="Subtitle 11"/>
          <p:cNvSpPr txBox="1"/>
          <p:nvPr/>
        </p:nvSpPr>
        <p:spPr>
          <a:xfrm>
            <a:off x="4827638" y="1787304"/>
            <a:ext cx="2382924" cy="584534"/>
          </a:xfrm>
          <a:prstGeom prst="rect">
            <a:avLst/>
          </a:prstGeom>
        </p:spPr>
        <p:txBody>
          <a:bodyPr vert="horz" lIns="91440" tIns="45720" rIns="91440" bIns="45720" rtlCol="0">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IN" sz="2600" b="0" dirty="0" smtClean="0">
                <a:effectLst>
                  <a:outerShdw blurRad="38100" dist="38100" dir="2700000" algn="tl">
                    <a:srgbClr val="000000">
                      <a:alpha val="43137"/>
                    </a:srgbClr>
                  </a:outerShdw>
                </a:effectLst>
              </a:rPr>
              <a:t>SIRI R</a:t>
            </a:r>
            <a:endParaRPr lang="en-US" sz="2600" b="0" dirty="0">
              <a:effectLst>
                <a:outerShdw blurRad="38100" dist="38100" dir="2700000" algn="tl">
                  <a:srgbClr val="000000">
                    <a:alpha val="43137"/>
                  </a:srgbClr>
                </a:outerShdw>
              </a:effectLst>
            </a:endParaRPr>
          </a:p>
          <a:p>
            <a:pPr>
              <a:spcBef>
                <a:spcPts val="300"/>
              </a:spcBef>
            </a:pPr>
            <a:r>
              <a:rPr lang="en-US" sz="1200" b="0" dirty="0"/>
              <a:t>Roll No. </a:t>
            </a:r>
            <a:r>
              <a:rPr lang="en-US" sz="1200" b="0" dirty="0" smtClean="0"/>
              <a:t>224G1A05A1</a:t>
            </a:r>
            <a:endParaRPr lang="en-US" sz="1200" b="0" dirty="0"/>
          </a:p>
        </p:txBody>
      </p:sp>
      <p:sp>
        <p:nvSpPr>
          <p:cNvPr id="14" name="Subtitle 11"/>
          <p:cNvSpPr txBox="1"/>
          <p:nvPr/>
        </p:nvSpPr>
        <p:spPr>
          <a:xfrm>
            <a:off x="1676400" y="1783000"/>
            <a:ext cx="2382924" cy="584534"/>
          </a:xfrm>
          <a:prstGeom prst="rect">
            <a:avLst/>
          </a:prstGeom>
        </p:spPr>
        <p:txBody>
          <a:bodyPr vert="horz" lIns="91440" tIns="45720" rIns="91440" bIns="45720" rtlCol="0">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2600" b="0" dirty="0" smtClean="0">
                <a:effectLst>
                  <a:outerShdw blurRad="38100" dist="38100" dir="2700000" algn="tl">
                    <a:srgbClr val="000000">
                      <a:alpha val="43137"/>
                    </a:srgbClr>
                  </a:outerShdw>
                </a:effectLst>
              </a:rPr>
              <a:t>RUHINAAZ Y</a:t>
            </a:r>
            <a:endParaRPr lang="en-US" sz="2600" b="0" dirty="0">
              <a:effectLst>
                <a:outerShdw blurRad="38100" dist="38100" dir="2700000" algn="tl">
                  <a:srgbClr val="000000">
                    <a:alpha val="43137"/>
                  </a:srgbClr>
                </a:outerShdw>
              </a:effectLst>
            </a:endParaRPr>
          </a:p>
          <a:p>
            <a:pPr>
              <a:spcBef>
                <a:spcPts val="300"/>
              </a:spcBef>
            </a:pPr>
            <a:r>
              <a:rPr lang="en-US" sz="1200" b="0" dirty="0"/>
              <a:t>Roll No. </a:t>
            </a:r>
            <a:r>
              <a:rPr lang="en-US" sz="1200" b="0" dirty="0" smtClean="0"/>
              <a:t>224G1A0587</a:t>
            </a:r>
            <a:endParaRPr lang="en-US" sz="1200" b="0" dirty="0"/>
          </a:p>
        </p:txBody>
      </p:sp>
      <p:sp>
        <p:nvSpPr>
          <p:cNvPr id="17" name="Rectangle: Rounded Corners 16"/>
          <p:cNvSpPr/>
          <p:nvPr/>
        </p:nvSpPr>
        <p:spPr>
          <a:xfrm>
            <a:off x="755009" y="335271"/>
            <a:ext cx="10528183" cy="857864"/>
          </a:xfrm>
          <a:prstGeom prst="roundRect">
            <a:avLst/>
          </a:prstGeom>
          <a:solidFill>
            <a:srgbClr val="FF6600"/>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AN INTELLIGENT FRAMEWORK FOR IDENTIFYING THE COOKING STATE OF RICE </a:t>
            </a:r>
            <a:endParaRPr lang="en-IN"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8" name="Rectangle 17"/>
          <p:cNvSpPr/>
          <p:nvPr/>
        </p:nvSpPr>
        <p:spPr>
          <a:xfrm>
            <a:off x="2714840" y="1261696"/>
            <a:ext cx="6762303" cy="338041"/>
          </a:xfrm>
          <a:prstGeom prst="rect">
            <a:avLst/>
          </a:prstGeom>
        </p:spPr>
        <p:txBody>
          <a:bodyPr wrap="square">
            <a:spAutoFit/>
          </a:bodyPr>
          <a:lstStyle/>
          <a:p>
            <a:pPr algn="ctr">
              <a:lnSpc>
                <a:spcPct val="107000"/>
              </a:lnSpc>
              <a:spcBef>
                <a:spcPts val="500"/>
              </a:spcBef>
              <a:spcAft>
                <a:spcPts val="500"/>
              </a:spcAft>
            </a:pPr>
            <a:r>
              <a:rPr lang="en-IN" sz="1600" i="1" dirty="0">
                <a:solidFill>
                  <a:srgbClr val="000000"/>
                </a:solidFill>
                <a:latin typeface="Times New Roman" panose="02020603050405020304" pitchFamily="18" charset="0"/>
                <a:ea typeface="Calibri" panose="020F0502020204030204" pitchFamily="34" charset="0"/>
              </a:rPr>
              <a:t>by</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5332301" y="3477046"/>
            <a:ext cx="1527379" cy="1685487"/>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PlaceHolder 1"/>
          <p:cNvSpPr>
            <a:spLocks noGrp="1"/>
          </p:cNvSpPr>
          <p:nvPr>
            <p:ph type="title"/>
          </p:nvPr>
        </p:nvSpPr>
        <p:spPr>
          <a:xfrm>
            <a:off x="240" y="228600"/>
            <a:ext cx="12191760" cy="714600"/>
          </a:xfrm>
          <a:prstGeom prst="rect">
            <a:avLst/>
          </a:prstGeom>
          <a:solidFill>
            <a:srgbClr val="FF6600"/>
          </a:solidFill>
          <a:ln w="0">
            <a:noFill/>
          </a:ln>
          <a:effectLst>
            <a:outerShdw blurRad="44280" dist="28080" dir="5400000" rotWithShape="0">
              <a:srgbClr val="000000">
                <a:alpha val="32000"/>
              </a:srgbClr>
            </a:outerShdw>
          </a:effectLst>
        </p:spPr>
        <p:txBody>
          <a:bodyPr lIns="90000" tIns="45000" rIns="90000" bIns="45000" anchor="t">
            <a:noAutofit/>
          </a:bodyPr>
          <a:lstStyle/>
          <a:p>
            <a:pPr>
              <a:lnSpc>
                <a:spcPct val="90000"/>
              </a:lnSpc>
            </a:pPr>
            <a:r>
              <a:rPr lang="en-US" sz="4400" b="0" strike="noStrike" spc="-1" dirty="0">
                <a:solidFill>
                  <a:srgbClr val="FFFFFF"/>
                </a:solidFill>
                <a:latin typeface="Times New Roman" panose="02020603050405020304"/>
              </a:rPr>
              <a:t>Contents</a:t>
            </a:r>
            <a:endParaRPr lang="en-US" sz="4400" b="0" strike="noStrike" spc="-1" dirty="0">
              <a:solidFill>
                <a:srgbClr val="000000"/>
              </a:solidFill>
              <a:latin typeface="Calibri" panose="020F0502020204030204"/>
            </a:endParaRPr>
          </a:p>
        </p:txBody>
      </p:sp>
      <p:sp>
        <p:nvSpPr>
          <p:cNvPr id="98" name="PlaceHolder 2"/>
          <p:cNvSpPr>
            <a:spLocks noGrp="1"/>
          </p:cNvSpPr>
          <p:nvPr>
            <p:ph/>
          </p:nvPr>
        </p:nvSpPr>
        <p:spPr>
          <a:xfrm>
            <a:off x="206580" y="990600"/>
            <a:ext cx="11778840" cy="5394600"/>
          </a:xfrm>
          <a:prstGeom prst="rect">
            <a:avLst/>
          </a:prstGeom>
          <a:noFill/>
          <a:ln w="0">
            <a:noFill/>
          </a:ln>
        </p:spPr>
        <p:txBody>
          <a:bodyPr anchor="t">
            <a:noAutofit/>
          </a:bodyPr>
          <a:lstStyle/>
          <a:p>
            <a:pPr marL="462280" indent="-462280" algn="just">
              <a:lnSpc>
                <a:spcPct val="90000"/>
              </a:lnSpc>
              <a:spcBef>
                <a:spcPts val="1000"/>
              </a:spcBef>
              <a:buSzPct val="100000"/>
              <a:buBlip>
                <a:blip r:embed="rId3"/>
              </a:buBlip>
            </a:pPr>
            <a:r>
              <a:rPr lang="en-US" sz="2800" b="0" strike="noStrike" spc="-1" dirty="0">
                <a:solidFill>
                  <a:srgbClr val="000000"/>
                </a:solidFill>
                <a:latin typeface="Times New Roman" panose="02020603050405020304"/>
              </a:rPr>
              <a:t>Title Justification</a:t>
            </a:r>
          </a:p>
          <a:p>
            <a:pPr marL="462280" indent="-462280" algn="just">
              <a:lnSpc>
                <a:spcPct val="90000"/>
              </a:lnSpc>
              <a:spcBef>
                <a:spcPts val="1000"/>
              </a:spcBef>
              <a:buSzPct val="100000"/>
              <a:buBlip>
                <a:blip r:embed="rId3"/>
              </a:buBlip>
            </a:pPr>
            <a:r>
              <a:rPr lang="en-US" sz="2800" b="0" strike="noStrike" spc="-1" dirty="0">
                <a:solidFill>
                  <a:srgbClr val="000000"/>
                </a:solidFill>
                <a:latin typeface="Times New Roman" panose="02020603050405020304"/>
              </a:rPr>
              <a:t>Abstract</a:t>
            </a:r>
          </a:p>
          <a:p>
            <a:pPr marL="462280" indent="-462280" algn="just">
              <a:lnSpc>
                <a:spcPct val="90000"/>
              </a:lnSpc>
              <a:spcBef>
                <a:spcPts val="1000"/>
              </a:spcBef>
              <a:buSzPct val="100000"/>
              <a:buBlip>
                <a:blip r:embed="rId3"/>
              </a:buBlip>
            </a:pPr>
            <a:r>
              <a:rPr lang="en-US" sz="2800" b="0" strike="noStrike" spc="-1" dirty="0">
                <a:solidFill>
                  <a:srgbClr val="000000"/>
                </a:solidFill>
                <a:latin typeface="Times New Roman" panose="02020603050405020304"/>
              </a:rPr>
              <a:t>Problem statement</a:t>
            </a:r>
          </a:p>
          <a:p>
            <a:pPr marL="462280" indent="-462280" algn="just">
              <a:lnSpc>
                <a:spcPct val="90000"/>
              </a:lnSpc>
              <a:spcBef>
                <a:spcPts val="1000"/>
              </a:spcBef>
              <a:buSzPct val="100000"/>
              <a:buBlip>
                <a:blip r:embed="rId3"/>
              </a:buBlip>
            </a:pPr>
            <a:r>
              <a:rPr lang="en-US" sz="2800" b="0" strike="noStrike" spc="-1" dirty="0">
                <a:solidFill>
                  <a:srgbClr val="000000"/>
                </a:solidFill>
                <a:latin typeface="Times New Roman" panose="02020603050405020304"/>
              </a:rPr>
              <a:t>Objectives of Project</a:t>
            </a:r>
          </a:p>
          <a:p>
            <a:pPr marL="462280" indent="-462280" algn="just">
              <a:lnSpc>
                <a:spcPct val="90000"/>
              </a:lnSpc>
              <a:spcBef>
                <a:spcPts val="1000"/>
              </a:spcBef>
              <a:buSzPct val="100000"/>
              <a:buBlip>
                <a:blip r:embed="rId3"/>
              </a:buBlip>
            </a:pPr>
            <a:r>
              <a:rPr lang="en-US" sz="2800" b="0" strike="noStrike" spc="-1" dirty="0">
                <a:solidFill>
                  <a:srgbClr val="000000"/>
                </a:solidFill>
                <a:latin typeface="Times New Roman" panose="02020603050405020304"/>
              </a:rPr>
              <a:t>Literature survey for objectives</a:t>
            </a:r>
          </a:p>
          <a:p>
            <a:pPr marL="462280" indent="-462280" algn="just">
              <a:lnSpc>
                <a:spcPct val="90000"/>
              </a:lnSpc>
              <a:spcBef>
                <a:spcPts val="1000"/>
              </a:spcBef>
              <a:buSzPct val="100000"/>
              <a:buBlip>
                <a:blip r:embed="rId3"/>
              </a:buBlip>
            </a:pPr>
            <a:r>
              <a:rPr lang="en-US" sz="2800" b="0" strike="noStrike" spc="-1" dirty="0">
                <a:solidFill>
                  <a:srgbClr val="000000"/>
                </a:solidFill>
                <a:latin typeface="Times New Roman" panose="02020603050405020304"/>
              </a:rPr>
              <a:t>Proposed Work -(Methods to be followed for proposed system) </a:t>
            </a:r>
          </a:p>
          <a:p>
            <a:pPr marL="462280" indent="-462280" algn="just">
              <a:lnSpc>
                <a:spcPct val="90000"/>
              </a:lnSpc>
              <a:spcBef>
                <a:spcPts val="1000"/>
              </a:spcBef>
              <a:buSzPct val="100000"/>
              <a:buBlip>
                <a:blip r:embed="rId3"/>
              </a:buBlip>
            </a:pPr>
            <a:r>
              <a:rPr lang="en-US" sz="2800" b="0" strike="noStrike" spc="-1" dirty="0">
                <a:solidFill>
                  <a:srgbClr val="000000"/>
                </a:solidFill>
                <a:latin typeface="Times New Roman" panose="02020603050405020304"/>
              </a:rPr>
              <a:t>References</a:t>
            </a:r>
          </a:p>
          <a:p>
            <a:pPr marL="462280" indent="-462280" algn="just">
              <a:lnSpc>
                <a:spcPct val="90000"/>
              </a:lnSpc>
              <a:spcBef>
                <a:spcPts val="1000"/>
              </a:spcBef>
              <a:buSzPct val="100000"/>
              <a:buBlip>
                <a:blip r:embed="rId3"/>
              </a:buBlip>
            </a:pPr>
            <a:r>
              <a:rPr lang="en-US" sz="2800" b="0" strike="noStrike" spc="-1" dirty="0">
                <a:solidFill>
                  <a:srgbClr val="000000"/>
                </a:solidFill>
                <a:latin typeface="Times New Roman" panose="02020603050405020304"/>
              </a:rPr>
              <a:t>GitHub Link</a:t>
            </a:r>
          </a:p>
          <a:p>
            <a:pPr marL="462280" indent="-462280" algn="just">
              <a:lnSpc>
                <a:spcPct val="90000"/>
              </a:lnSpc>
              <a:spcBef>
                <a:spcPts val="1000"/>
              </a:spcBef>
              <a:buSzPct val="100000"/>
              <a:buBlip>
                <a:blip r:embed="rId3"/>
              </a:buBlip>
            </a:pPr>
            <a:r>
              <a:rPr lang="en-US" sz="2800" b="0" strike="noStrike" spc="-1" dirty="0">
                <a:solidFill>
                  <a:srgbClr val="000000"/>
                </a:solidFill>
                <a:latin typeface="Times New Roman" panose="02020603050405020304"/>
              </a:rPr>
              <a:t>Queries</a:t>
            </a:r>
          </a:p>
          <a:p>
            <a:pPr algn="just">
              <a:lnSpc>
                <a:spcPct val="90000"/>
              </a:lnSpc>
              <a:spcBef>
                <a:spcPts val="1000"/>
              </a:spcBef>
              <a:tabLst>
                <a:tab pos="0" algn="l"/>
              </a:tabLst>
            </a:pPr>
            <a:endParaRPr lang="en-US" sz="2800" b="0" strike="noStrike" spc="-1" dirty="0">
              <a:solidFill>
                <a:srgbClr val="000000"/>
              </a:solidFill>
              <a:latin typeface="Times New Roman" panose="02020603050405020304"/>
            </a:endParaRPr>
          </a:p>
        </p:txBody>
      </p:sp>
      <p:sp>
        <p:nvSpPr>
          <p:cNvPr id="4" name="Rectangle 3">
            <a:extLst>
              <a:ext uri="{FF2B5EF4-FFF2-40B4-BE49-F238E27FC236}">
                <a16:creationId xmlns:a16="http://schemas.microsoft.com/office/drawing/2014/main" xmlns="" id="{67980CE8-0DF4-ADFB-351E-3165106C569D}"/>
              </a:ext>
            </a:extLst>
          </p:cNvPr>
          <p:cNvSpPr/>
          <p:nvPr/>
        </p:nvSpPr>
        <p:spPr>
          <a:xfrm>
            <a:off x="0" y="0"/>
            <a:ext cx="12192000" cy="288000"/>
          </a:xfrm>
          <a:prstGeom prst="rect">
            <a:avLst/>
          </a:prstGeom>
          <a:solidFill>
            <a:srgbClr val="0080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latin typeface="Times New Roman" panose="02020603050405020304" pitchFamily="18" charset="0"/>
                <a:cs typeface="Times New Roman" panose="02020603050405020304" pitchFamily="18" charset="0"/>
              </a:rPr>
              <a:t>An Intelligent Framework for </a:t>
            </a:r>
            <a:r>
              <a:rPr lang="en-US" dirty="0" err="1" smtClean="0">
                <a:latin typeface="Times New Roman" panose="02020603050405020304" pitchFamily="18" charset="0"/>
                <a:cs typeface="Times New Roman" panose="02020603050405020304" pitchFamily="18" charset="0"/>
              </a:rPr>
              <a:t>Identifing</a:t>
            </a:r>
            <a:r>
              <a:rPr lang="en-US" dirty="0" smtClean="0">
                <a:latin typeface="Times New Roman" panose="02020603050405020304" pitchFamily="18" charset="0"/>
                <a:cs typeface="Times New Roman" panose="02020603050405020304" pitchFamily="18" charset="0"/>
              </a:rPr>
              <a:t> the Cooking State of Rice</a:t>
            </a:r>
            <a:endParaRPr lang="en-IN" dirty="0">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xmlns="" id="{40F8C159-E10E-1263-C3EF-28CF1B6055A5}"/>
              </a:ext>
            </a:extLst>
          </p:cNvPr>
          <p:cNvGraphicFramePr>
            <a:graphicFrameLocks noGrp="1"/>
          </p:cNvGraphicFramePr>
          <p:nvPr>
            <p:extLst>
              <p:ext uri="{D42A27DB-BD31-4B8C-83A1-F6EECF244321}">
                <p14:modId xmlns:p14="http://schemas.microsoft.com/office/powerpoint/2010/main" val="501092153"/>
              </p:ext>
            </p:extLst>
          </p:nvPr>
        </p:nvGraphicFramePr>
        <p:xfrm>
          <a:off x="-1" y="6629399"/>
          <a:ext cx="12192001" cy="314926"/>
        </p:xfrm>
        <a:graphic>
          <a:graphicData uri="http://schemas.openxmlformats.org/drawingml/2006/table">
            <a:tbl>
              <a:tblPr firstRow="1" bandRow="1">
                <a:tableStyleId>{5C22544A-7EE6-4342-B048-85BDC9FD1C3A}</a:tableStyleId>
              </a:tblPr>
              <a:tblGrid>
                <a:gridCol w="689634">
                  <a:extLst>
                    <a:ext uri="{9D8B030D-6E8A-4147-A177-3AD203B41FA5}">
                      <a16:colId xmlns:a16="http://schemas.microsoft.com/office/drawing/2014/main" xmlns="" val="2456744558"/>
                    </a:ext>
                  </a:extLst>
                </a:gridCol>
                <a:gridCol w="5406367">
                  <a:extLst>
                    <a:ext uri="{9D8B030D-6E8A-4147-A177-3AD203B41FA5}">
                      <a16:colId xmlns:a16="http://schemas.microsoft.com/office/drawing/2014/main" xmlns="" val="1228853089"/>
                    </a:ext>
                  </a:extLst>
                </a:gridCol>
                <a:gridCol w="5515889">
                  <a:extLst>
                    <a:ext uri="{9D8B030D-6E8A-4147-A177-3AD203B41FA5}">
                      <a16:colId xmlns:a16="http://schemas.microsoft.com/office/drawing/2014/main" xmlns="" val="2344483369"/>
                    </a:ext>
                  </a:extLst>
                </a:gridCol>
                <a:gridCol w="580111">
                  <a:extLst>
                    <a:ext uri="{9D8B030D-6E8A-4147-A177-3AD203B41FA5}">
                      <a16:colId xmlns:a16="http://schemas.microsoft.com/office/drawing/2014/main" xmlns="" val="402432539"/>
                    </a:ext>
                  </a:extLst>
                </a:gridCol>
              </a:tblGrid>
              <a:tr h="228600">
                <a:tc>
                  <a:txBody>
                    <a:bodyPr/>
                    <a:lstStyle/>
                    <a:p>
                      <a:r>
                        <a:rPr lang="en-US" sz="1600" dirty="0" smtClean="0">
                          <a:latin typeface="Times New Roman" panose="02020603050405020304" pitchFamily="18" charset="0"/>
                          <a:cs typeface="Times New Roman" panose="02020603050405020304" pitchFamily="18" charset="0"/>
                        </a:rPr>
                        <a:t>B-03</a:t>
                      </a:r>
                      <a:endParaRPr lang="en-IN" sz="1600" dirty="0">
                        <a:latin typeface="Times New Roman" panose="02020603050405020304" pitchFamily="18" charset="0"/>
                        <a:cs typeface="Times New Roman" panose="02020603050405020304" pitchFamily="18" charset="0"/>
                      </a:endParaRP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solidFill>
                  </a:tcPr>
                </a:tc>
                <a:tc>
                  <a:txBody>
                    <a:bodyPr/>
                    <a:lstStyle/>
                    <a:p>
                      <a:pPr algn="ctr"/>
                      <a:r>
                        <a:rPr lang="en-IN" sz="1600" dirty="0">
                          <a:latin typeface="Times New Roman" panose="02020603050405020304" pitchFamily="18" charset="0"/>
                          <a:cs typeface="Times New Roman" panose="02020603050405020304" pitchFamily="18" charset="0"/>
                        </a:rPr>
                        <a:t>Department of Computer Science and Engineering</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50000"/>
                      </a:schemeClr>
                    </a:solidFill>
                  </a:tcPr>
                </a:tc>
                <a:tc>
                  <a:txBody>
                    <a:bodyPr/>
                    <a:lstStyle/>
                    <a:p>
                      <a:pPr algn="ctr"/>
                      <a:r>
                        <a:rPr lang="en-IN" sz="1600" dirty="0">
                          <a:latin typeface="Times New Roman" panose="02020603050405020304" pitchFamily="18" charset="0"/>
                          <a:cs typeface="Times New Roman" panose="02020603050405020304" pitchFamily="18" charset="0"/>
                        </a:rPr>
                        <a:t>Srinivasa Ramanujan Institute of Technology</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8080"/>
                    </a:solidFill>
                  </a:tcPr>
                </a:tc>
                <a:tc>
                  <a:txBody>
                    <a:bodyPr/>
                    <a:lstStyle/>
                    <a:p>
                      <a:r>
                        <a:rPr lang="en-US" sz="1600" dirty="0" smtClean="0">
                          <a:solidFill>
                            <a:schemeClr val="tx1"/>
                          </a:solidFill>
                          <a:latin typeface="Times New Roman" panose="02020603050405020304" pitchFamily="18" charset="0"/>
                          <a:cs typeface="Times New Roman" panose="02020603050405020304" pitchFamily="18" charset="0"/>
                        </a:rPr>
                        <a:t>2</a:t>
                      </a:r>
                      <a:endParaRPr lang="en-IN" sz="1600" dirty="0">
                        <a:solidFill>
                          <a:schemeClr val="tx1"/>
                        </a:solidFill>
                        <a:latin typeface="Times New Roman" panose="02020603050405020304" pitchFamily="18" charset="0"/>
                        <a:cs typeface="Times New Roman" panose="02020603050405020304" pitchFamily="18" charset="0"/>
                      </a:endParaRP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xmlns="" val="455470646"/>
                  </a:ext>
                </a:extLst>
              </a:tr>
            </a:tbl>
          </a:graphicData>
        </a:graphic>
      </p:graphicFrame>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PlaceHolder 1"/>
          <p:cNvSpPr>
            <a:spLocks noGrp="1"/>
          </p:cNvSpPr>
          <p:nvPr>
            <p:ph type="title"/>
          </p:nvPr>
        </p:nvSpPr>
        <p:spPr>
          <a:xfrm>
            <a:off x="240" y="228600"/>
            <a:ext cx="12191760" cy="714600"/>
          </a:xfrm>
          <a:prstGeom prst="rect">
            <a:avLst/>
          </a:prstGeom>
          <a:solidFill>
            <a:srgbClr val="FF6600"/>
          </a:solidFill>
          <a:ln w="0">
            <a:noFill/>
          </a:ln>
          <a:effectLst>
            <a:outerShdw blurRad="44280" dist="28080" dir="5400000" rotWithShape="0">
              <a:srgbClr val="000000">
                <a:alpha val="32000"/>
              </a:srgbClr>
            </a:outerShdw>
          </a:effectLst>
        </p:spPr>
        <p:txBody>
          <a:bodyPr lIns="90000" tIns="45000" rIns="90000" bIns="45000" anchor="t">
            <a:noAutofit/>
          </a:bodyPr>
          <a:lstStyle/>
          <a:p>
            <a:pPr>
              <a:lnSpc>
                <a:spcPct val="90000"/>
              </a:lnSpc>
            </a:pPr>
            <a:r>
              <a:rPr lang="en-US" sz="4400" b="0" strike="noStrike" dirty="0">
                <a:solidFill>
                  <a:schemeClr val="bg1"/>
                </a:solidFill>
                <a:latin typeface="Times New Roman" panose="02020603050405020304"/>
                <a:sym typeface="+mn-ea"/>
              </a:rPr>
              <a:t>Title Justification</a:t>
            </a:r>
            <a:endParaRPr lang="en-US" sz="4400" b="0" strike="noStrike" spc="-1" dirty="0">
              <a:solidFill>
                <a:schemeClr val="bg1"/>
              </a:solidFill>
              <a:latin typeface="Calibri" panose="020F0502020204030204"/>
            </a:endParaRPr>
          </a:p>
        </p:txBody>
      </p:sp>
      <p:sp>
        <p:nvSpPr>
          <p:cNvPr id="98" name="PlaceHolder 2"/>
          <p:cNvSpPr>
            <a:spLocks noGrp="1"/>
          </p:cNvSpPr>
          <p:nvPr>
            <p:ph/>
          </p:nvPr>
        </p:nvSpPr>
        <p:spPr>
          <a:xfrm>
            <a:off x="199440" y="1097280"/>
            <a:ext cx="11778840" cy="5394600"/>
          </a:xfrm>
          <a:prstGeom prst="rect">
            <a:avLst/>
          </a:prstGeom>
          <a:noFill/>
          <a:ln w="0">
            <a:noFill/>
          </a:ln>
        </p:spPr>
        <p:txBody>
          <a:bodyPr anchor="t">
            <a:noAutofit/>
          </a:bodyPr>
          <a:lstStyle/>
          <a:p>
            <a:pPr algn="just"/>
            <a:r>
              <a:rPr lang="en-US" sz="2400" dirty="0">
                <a:latin typeface="+mn-lt"/>
              </a:rPr>
              <a:t>The project </a:t>
            </a:r>
            <a:r>
              <a:rPr lang="en-US" sz="2400" b="1" dirty="0" smtClean="0">
                <a:latin typeface="+mn-lt"/>
              </a:rPr>
              <a:t>“</a:t>
            </a:r>
            <a:r>
              <a:rPr lang="en-US" sz="2400" b="1" dirty="0" smtClean="0"/>
              <a:t>An Intelligent Framework for Identifying the Cooking State of Rice</a:t>
            </a:r>
            <a:r>
              <a:rPr lang="en-US" sz="2400" b="1" dirty="0" smtClean="0">
                <a:latin typeface="+mn-lt"/>
              </a:rPr>
              <a:t>”</a:t>
            </a:r>
            <a:r>
              <a:rPr lang="en-US" sz="2400" dirty="0" smtClean="0">
                <a:latin typeface="+mn-lt"/>
              </a:rPr>
              <a:t> </a:t>
            </a:r>
            <a:r>
              <a:rPr lang="en-US" sz="2400" dirty="0">
                <a:latin typeface="+mn-lt"/>
              </a:rPr>
              <a:t>is essential for improving accuracy and efficiency in monitoring rice cooking stages. Traditionally, determining whether rice is </a:t>
            </a:r>
            <a:r>
              <a:rPr lang="en-US" sz="2400" dirty="0" smtClean="0">
                <a:latin typeface="+mn-lt"/>
              </a:rPr>
              <a:t>raw, semi-cooked</a:t>
            </a:r>
            <a:r>
              <a:rPr lang="en-US" sz="2400" dirty="0">
                <a:latin typeface="+mn-lt"/>
              </a:rPr>
              <a:t>, or fully cooked relies on </a:t>
            </a:r>
            <a:r>
              <a:rPr lang="en-US" sz="2400" b="1" dirty="0">
                <a:latin typeface="+mn-lt"/>
              </a:rPr>
              <a:t>manual visual inspection</a:t>
            </a:r>
            <a:r>
              <a:rPr lang="en-US" sz="2400" dirty="0">
                <a:latin typeface="+mn-lt"/>
              </a:rPr>
              <a:t>, which is subjective, inconsistent, and prone to human error. In large-scale kitchens, food processing units, and automated cooking systems, such manual methods cannot guarantee uniform quality</a:t>
            </a:r>
            <a:r>
              <a:rPr lang="en-US" sz="2400" dirty="0" smtClean="0">
                <a:latin typeface="+mn-lt"/>
              </a:rPr>
              <a:t>.</a:t>
            </a:r>
          </a:p>
          <a:p>
            <a:pPr algn="just"/>
            <a:endParaRPr lang="en-US" sz="2400" dirty="0">
              <a:latin typeface="+mn-lt"/>
            </a:endParaRPr>
          </a:p>
          <a:p>
            <a:pPr algn="just"/>
            <a:r>
              <a:rPr lang="en-US" sz="2400" dirty="0" smtClean="0">
                <a:latin typeface="+mn-lt"/>
              </a:rPr>
              <a:t>By applying </a:t>
            </a:r>
            <a:r>
              <a:rPr lang="en-US" sz="2400" b="1" dirty="0" smtClean="0">
                <a:latin typeface="+mn-lt"/>
              </a:rPr>
              <a:t>deep learning and computer vision</a:t>
            </a:r>
            <a:r>
              <a:rPr lang="en-US" sz="2400" dirty="0" smtClean="0">
                <a:latin typeface="+mn-lt"/>
              </a:rPr>
              <a:t>, this project enables an </a:t>
            </a:r>
            <a:r>
              <a:rPr lang="en-US" sz="2400" b="1" dirty="0" smtClean="0">
                <a:latin typeface="+mn-lt"/>
              </a:rPr>
              <a:t>automated, reliable, and real-time classification</a:t>
            </a:r>
            <a:r>
              <a:rPr lang="en-US" sz="2400" dirty="0" smtClean="0">
                <a:latin typeface="+mn-lt"/>
              </a:rPr>
              <a:t> of rice cooking stages using </a:t>
            </a:r>
            <a:r>
              <a:rPr lang="en-US" sz="2400" dirty="0">
                <a:latin typeface="+mn-lt"/>
              </a:rPr>
              <a:t>simple RGB images. This ensures consistent food quality, reduces waste due to overcooking or undercooking, and supports the development of smart kitchen automation technologies. The title reflects the core aim of constructing an intelligent system capable of accurately identifying cooking stages and enhancing the overall efficiency of the cooking process.</a:t>
            </a:r>
          </a:p>
          <a:p>
            <a:pPr algn="just">
              <a:lnSpc>
                <a:spcPct val="90000"/>
              </a:lnSpc>
              <a:spcBef>
                <a:spcPts val="1000"/>
              </a:spcBef>
              <a:tabLst>
                <a:tab pos="0" algn="l"/>
              </a:tabLst>
            </a:pPr>
            <a:endParaRPr lang="en-US" sz="2800" b="0" strike="noStrike" spc="-1" dirty="0">
              <a:solidFill>
                <a:srgbClr val="000000"/>
              </a:solidFill>
              <a:latin typeface="Times New Roman" panose="02020603050405020304"/>
            </a:endParaRPr>
          </a:p>
        </p:txBody>
      </p:sp>
      <p:sp>
        <p:nvSpPr>
          <p:cNvPr id="5" name="Rectangle 4">
            <a:extLst>
              <a:ext uri="{FF2B5EF4-FFF2-40B4-BE49-F238E27FC236}">
                <a16:creationId xmlns:a16="http://schemas.microsoft.com/office/drawing/2014/main" xmlns="" id="{67980CE8-0DF4-ADFB-351E-3165106C569D}"/>
              </a:ext>
            </a:extLst>
          </p:cNvPr>
          <p:cNvSpPr/>
          <p:nvPr/>
        </p:nvSpPr>
        <p:spPr>
          <a:xfrm>
            <a:off x="-29228" y="13632"/>
            <a:ext cx="12192000" cy="288000"/>
          </a:xfrm>
          <a:prstGeom prst="rect">
            <a:avLst/>
          </a:prstGeom>
          <a:solidFill>
            <a:srgbClr val="0080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An Intelligent Framework for </a:t>
            </a:r>
            <a:r>
              <a:rPr lang="en-US" dirty="0" err="1">
                <a:latin typeface="Times New Roman" panose="02020603050405020304" pitchFamily="18" charset="0"/>
                <a:cs typeface="Times New Roman" panose="02020603050405020304" pitchFamily="18" charset="0"/>
              </a:rPr>
              <a:t>Identifing</a:t>
            </a:r>
            <a:r>
              <a:rPr lang="en-US" dirty="0">
                <a:latin typeface="Times New Roman" panose="02020603050405020304" pitchFamily="18" charset="0"/>
                <a:cs typeface="Times New Roman" panose="02020603050405020304" pitchFamily="18" charset="0"/>
              </a:rPr>
              <a:t> the Cooking State of Rice</a:t>
            </a:r>
            <a:endParaRPr lang="en-IN" dirty="0">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xmlns="" id="{40F8C159-E10E-1263-C3EF-28CF1B6055A5}"/>
              </a:ext>
            </a:extLst>
          </p:cNvPr>
          <p:cNvGraphicFramePr>
            <a:graphicFrameLocks noGrp="1"/>
          </p:cNvGraphicFramePr>
          <p:nvPr>
            <p:extLst>
              <p:ext uri="{D42A27DB-BD31-4B8C-83A1-F6EECF244321}">
                <p14:modId xmlns:p14="http://schemas.microsoft.com/office/powerpoint/2010/main" val="3404766301"/>
              </p:ext>
            </p:extLst>
          </p:nvPr>
        </p:nvGraphicFramePr>
        <p:xfrm>
          <a:off x="-1" y="6629399"/>
          <a:ext cx="12192001" cy="314926"/>
        </p:xfrm>
        <a:graphic>
          <a:graphicData uri="http://schemas.openxmlformats.org/drawingml/2006/table">
            <a:tbl>
              <a:tblPr firstRow="1" bandRow="1">
                <a:tableStyleId>{5C22544A-7EE6-4342-B048-85BDC9FD1C3A}</a:tableStyleId>
              </a:tblPr>
              <a:tblGrid>
                <a:gridCol w="689634">
                  <a:extLst>
                    <a:ext uri="{9D8B030D-6E8A-4147-A177-3AD203B41FA5}">
                      <a16:colId xmlns:a16="http://schemas.microsoft.com/office/drawing/2014/main" xmlns="" val="2456744558"/>
                    </a:ext>
                  </a:extLst>
                </a:gridCol>
                <a:gridCol w="5406367">
                  <a:extLst>
                    <a:ext uri="{9D8B030D-6E8A-4147-A177-3AD203B41FA5}">
                      <a16:colId xmlns:a16="http://schemas.microsoft.com/office/drawing/2014/main" xmlns="" val="1228853089"/>
                    </a:ext>
                  </a:extLst>
                </a:gridCol>
                <a:gridCol w="5515889">
                  <a:extLst>
                    <a:ext uri="{9D8B030D-6E8A-4147-A177-3AD203B41FA5}">
                      <a16:colId xmlns:a16="http://schemas.microsoft.com/office/drawing/2014/main" xmlns="" val="2344483369"/>
                    </a:ext>
                  </a:extLst>
                </a:gridCol>
                <a:gridCol w="580111">
                  <a:extLst>
                    <a:ext uri="{9D8B030D-6E8A-4147-A177-3AD203B41FA5}">
                      <a16:colId xmlns:a16="http://schemas.microsoft.com/office/drawing/2014/main" xmlns="" val="402432539"/>
                    </a:ext>
                  </a:extLst>
                </a:gridCol>
              </a:tblGrid>
              <a:tr h="228600">
                <a:tc>
                  <a:txBody>
                    <a:bodyPr/>
                    <a:lstStyle/>
                    <a:p>
                      <a:r>
                        <a:rPr lang="en-US" sz="1600" dirty="0" smtClean="0">
                          <a:latin typeface="Times New Roman" panose="02020603050405020304" pitchFamily="18" charset="0"/>
                          <a:cs typeface="Times New Roman" panose="02020603050405020304" pitchFamily="18" charset="0"/>
                        </a:rPr>
                        <a:t>B-03</a:t>
                      </a:r>
                      <a:endParaRPr lang="en-IN" sz="1600" dirty="0">
                        <a:latin typeface="Times New Roman" panose="02020603050405020304" pitchFamily="18" charset="0"/>
                        <a:cs typeface="Times New Roman" panose="02020603050405020304" pitchFamily="18" charset="0"/>
                      </a:endParaRP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solidFill>
                  </a:tcPr>
                </a:tc>
                <a:tc>
                  <a:txBody>
                    <a:bodyPr/>
                    <a:lstStyle/>
                    <a:p>
                      <a:pPr algn="ctr"/>
                      <a:r>
                        <a:rPr lang="en-IN" sz="1600" dirty="0">
                          <a:latin typeface="Times New Roman" panose="02020603050405020304" pitchFamily="18" charset="0"/>
                          <a:cs typeface="Times New Roman" panose="02020603050405020304" pitchFamily="18" charset="0"/>
                        </a:rPr>
                        <a:t>Department of Computer Science and Engineering</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50000"/>
                      </a:schemeClr>
                    </a:solidFill>
                  </a:tcPr>
                </a:tc>
                <a:tc>
                  <a:txBody>
                    <a:bodyPr/>
                    <a:lstStyle/>
                    <a:p>
                      <a:pPr algn="ctr"/>
                      <a:r>
                        <a:rPr lang="en-IN" sz="1600" dirty="0">
                          <a:latin typeface="Times New Roman" panose="02020603050405020304" pitchFamily="18" charset="0"/>
                          <a:cs typeface="Times New Roman" panose="02020603050405020304" pitchFamily="18" charset="0"/>
                        </a:rPr>
                        <a:t>Srinivasa Ramanujan Institute of Technology</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8080"/>
                    </a:solidFill>
                  </a:tcPr>
                </a:tc>
                <a:tc>
                  <a:txBody>
                    <a:bodyPr/>
                    <a:lstStyle/>
                    <a:p>
                      <a:r>
                        <a:rPr lang="en-US" sz="1600" dirty="0" smtClean="0">
                          <a:solidFill>
                            <a:schemeClr val="tx1"/>
                          </a:solidFill>
                          <a:latin typeface="Times New Roman" panose="02020603050405020304" pitchFamily="18" charset="0"/>
                          <a:cs typeface="Times New Roman" panose="02020603050405020304" pitchFamily="18" charset="0"/>
                        </a:rPr>
                        <a:t>3</a:t>
                      </a:r>
                      <a:endParaRPr lang="en-IN" sz="1600" dirty="0">
                        <a:solidFill>
                          <a:schemeClr val="tx1"/>
                        </a:solidFill>
                        <a:latin typeface="Times New Roman" panose="02020603050405020304" pitchFamily="18" charset="0"/>
                        <a:cs typeface="Times New Roman" panose="02020603050405020304" pitchFamily="18" charset="0"/>
                      </a:endParaRP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xmlns="" val="455470646"/>
                  </a:ext>
                </a:extLst>
              </a:tr>
            </a:tbl>
          </a:graphicData>
        </a:graphic>
      </p:graphicFrame>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PlaceHolder 1"/>
          <p:cNvSpPr>
            <a:spLocks noGrp="1"/>
          </p:cNvSpPr>
          <p:nvPr>
            <p:ph type="title"/>
          </p:nvPr>
        </p:nvSpPr>
        <p:spPr>
          <a:xfrm>
            <a:off x="0" y="232920"/>
            <a:ext cx="12191760" cy="714600"/>
          </a:xfrm>
          <a:prstGeom prst="rect">
            <a:avLst/>
          </a:prstGeom>
          <a:solidFill>
            <a:srgbClr val="FF6600"/>
          </a:solidFill>
          <a:ln w="0">
            <a:noFill/>
          </a:ln>
          <a:effectLst>
            <a:outerShdw blurRad="44280" dist="28080" dir="5400000" rotWithShape="0">
              <a:srgbClr val="000000">
                <a:alpha val="32000"/>
              </a:srgbClr>
            </a:outerShdw>
          </a:effectLst>
        </p:spPr>
        <p:txBody>
          <a:bodyPr lIns="90000" tIns="45000" rIns="90000" bIns="45000" anchor="t">
            <a:noAutofit/>
          </a:bodyPr>
          <a:lstStyle/>
          <a:p>
            <a:pPr algn="l">
              <a:lnSpc>
                <a:spcPct val="90000"/>
              </a:lnSpc>
              <a:spcBef>
                <a:spcPts val="1000"/>
              </a:spcBef>
            </a:pPr>
            <a:r>
              <a:rPr lang="en-US" sz="4400" b="0" strike="noStrike" spc="-1" dirty="0" smtClean="0">
                <a:solidFill>
                  <a:schemeClr val="bg1"/>
                </a:solidFill>
                <a:latin typeface="Times New Roman" panose="02020603050405020304"/>
              </a:rPr>
              <a:t>Abstract</a:t>
            </a:r>
            <a:endParaRPr lang="en-US" sz="4400" b="0" strike="noStrike" spc="-1" dirty="0">
              <a:solidFill>
                <a:schemeClr val="bg1"/>
              </a:solidFill>
              <a:latin typeface="Calibri" panose="020F0502020204030204"/>
            </a:endParaRPr>
          </a:p>
        </p:txBody>
      </p:sp>
      <p:sp>
        <p:nvSpPr>
          <p:cNvPr id="100" name="PlaceHolder 2"/>
          <p:cNvSpPr>
            <a:spLocks noGrp="1"/>
          </p:cNvSpPr>
          <p:nvPr>
            <p:ph/>
          </p:nvPr>
        </p:nvSpPr>
        <p:spPr>
          <a:xfrm>
            <a:off x="199440" y="1097280"/>
            <a:ext cx="11778840" cy="5394600"/>
          </a:xfrm>
          <a:prstGeom prst="rect">
            <a:avLst/>
          </a:prstGeom>
          <a:noFill/>
          <a:ln w="0">
            <a:noFill/>
          </a:ln>
        </p:spPr>
        <p:txBody>
          <a:bodyPr anchor="t">
            <a:noAutofit/>
          </a:bodyPr>
          <a:lstStyle/>
          <a:p>
            <a:pPr algn="just"/>
            <a:r>
              <a:rPr lang="en-US" sz="2400" dirty="0"/>
              <a:t>The increasing demand for consistent food quality and </a:t>
            </a:r>
            <a:r>
              <a:rPr lang="en-US" sz="2400" dirty="0" smtClean="0"/>
              <a:t>kitchen automation has created need for reliable methods to determine rice cooking stages. Traditional manual inspection is often subjective and inaccurate, resulting in inconsistent cooking outcomes.</a:t>
            </a:r>
          </a:p>
          <a:p>
            <a:pPr algn="just"/>
            <a:r>
              <a:rPr lang="en-US" sz="2400" dirty="0" smtClean="0"/>
              <a:t>This research aims to develop an intelligent system that classifies rice images into three categories: Raw, Semi-cooked, and Fully cooked. The goal is to automate the cooking stage identification process using a rice image data set.</a:t>
            </a:r>
          </a:p>
          <a:p>
            <a:pPr algn="just"/>
            <a:r>
              <a:rPr lang="en-US" sz="2400" dirty="0" smtClean="0"/>
              <a:t>The system utilizes deep learning techniques, applying transfer learning with pre-trained CNN models such as MobileNetV2 or ResNet50. The methodology includes image acquisition, preprocessing, feature extraction and classification using a fine-tuned neural network.</a:t>
            </a:r>
          </a:p>
          <a:p>
            <a:pPr algn="just"/>
            <a:r>
              <a:rPr lang="en-US" sz="2400" dirty="0" smtClean="0"/>
              <a:t>Although still under development, the system is expected to offer a scalable, efficient, and non-intrusive solution for real-time food assessment. The outcomes aim to support smart kitchen technologies, reduce human error and ensure quality.</a:t>
            </a:r>
            <a:endParaRPr lang="en-US" sz="2400" dirty="0"/>
          </a:p>
        </p:txBody>
      </p:sp>
      <p:sp>
        <p:nvSpPr>
          <p:cNvPr id="4" name="Rectangle 3">
            <a:extLst>
              <a:ext uri="{FF2B5EF4-FFF2-40B4-BE49-F238E27FC236}">
                <a16:creationId xmlns:a16="http://schemas.microsoft.com/office/drawing/2014/main" xmlns="" id="{67980CE8-0DF4-ADFB-351E-3165106C569D}"/>
              </a:ext>
            </a:extLst>
          </p:cNvPr>
          <p:cNvSpPr/>
          <p:nvPr/>
        </p:nvSpPr>
        <p:spPr>
          <a:xfrm>
            <a:off x="-36534" y="0"/>
            <a:ext cx="12192000" cy="288000"/>
          </a:xfrm>
          <a:prstGeom prst="rect">
            <a:avLst/>
          </a:prstGeom>
          <a:solidFill>
            <a:srgbClr val="0080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Times New Roman" panose="02020603050405020304" pitchFamily="18" charset="0"/>
              <a:cs typeface="Times New Roman" panose="02020603050405020304" pitchFamily="18" charset="0"/>
            </a:endParaRPr>
          </a:p>
          <a:p>
            <a:pPr algn="ctr"/>
            <a:r>
              <a:rPr lang="en-US" dirty="0" smtClean="0">
                <a:latin typeface="Times New Roman" panose="02020603050405020304" pitchFamily="18" charset="0"/>
                <a:cs typeface="Times New Roman" panose="02020603050405020304" pitchFamily="18" charset="0"/>
              </a:rPr>
              <a:t>An </a:t>
            </a:r>
            <a:r>
              <a:rPr lang="en-US" dirty="0">
                <a:latin typeface="Times New Roman" panose="02020603050405020304" pitchFamily="18" charset="0"/>
                <a:cs typeface="Times New Roman" panose="02020603050405020304" pitchFamily="18" charset="0"/>
              </a:rPr>
              <a:t>Intelligent Framework for </a:t>
            </a:r>
            <a:r>
              <a:rPr lang="en-US" dirty="0" err="1">
                <a:latin typeface="Times New Roman" panose="02020603050405020304" pitchFamily="18" charset="0"/>
                <a:cs typeface="Times New Roman" panose="02020603050405020304" pitchFamily="18" charset="0"/>
              </a:rPr>
              <a:t>Identifing</a:t>
            </a:r>
            <a:r>
              <a:rPr lang="en-US" dirty="0">
                <a:latin typeface="Times New Roman" panose="02020603050405020304" pitchFamily="18" charset="0"/>
                <a:cs typeface="Times New Roman" panose="02020603050405020304" pitchFamily="18" charset="0"/>
              </a:rPr>
              <a:t> the Cooking State of Rice</a:t>
            </a:r>
            <a:endParaRPr lang="en-IN" dirty="0">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xmlns="" id="{40F8C159-E10E-1263-C3EF-28CF1B6055A5}"/>
              </a:ext>
            </a:extLst>
          </p:cNvPr>
          <p:cNvGraphicFramePr>
            <a:graphicFrameLocks noGrp="1"/>
          </p:cNvGraphicFramePr>
          <p:nvPr>
            <p:extLst>
              <p:ext uri="{D42A27DB-BD31-4B8C-83A1-F6EECF244321}">
                <p14:modId xmlns:p14="http://schemas.microsoft.com/office/powerpoint/2010/main" val="829716165"/>
              </p:ext>
            </p:extLst>
          </p:nvPr>
        </p:nvGraphicFramePr>
        <p:xfrm>
          <a:off x="-1" y="6629400"/>
          <a:ext cx="12192001" cy="314926"/>
        </p:xfrm>
        <a:graphic>
          <a:graphicData uri="http://schemas.openxmlformats.org/drawingml/2006/table">
            <a:tbl>
              <a:tblPr firstRow="1" bandRow="1">
                <a:tableStyleId>{5C22544A-7EE6-4342-B048-85BDC9FD1C3A}</a:tableStyleId>
              </a:tblPr>
              <a:tblGrid>
                <a:gridCol w="689634">
                  <a:extLst>
                    <a:ext uri="{9D8B030D-6E8A-4147-A177-3AD203B41FA5}">
                      <a16:colId xmlns:a16="http://schemas.microsoft.com/office/drawing/2014/main" xmlns="" val="2456744558"/>
                    </a:ext>
                  </a:extLst>
                </a:gridCol>
                <a:gridCol w="5406367">
                  <a:extLst>
                    <a:ext uri="{9D8B030D-6E8A-4147-A177-3AD203B41FA5}">
                      <a16:colId xmlns:a16="http://schemas.microsoft.com/office/drawing/2014/main" xmlns="" val="1228853089"/>
                    </a:ext>
                  </a:extLst>
                </a:gridCol>
                <a:gridCol w="5515889">
                  <a:extLst>
                    <a:ext uri="{9D8B030D-6E8A-4147-A177-3AD203B41FA5}">
                      <a16:colId xmlns:a16="http://schemas.microsoft.com/office/drawing/2014/main" xmlns="" val="2344483369"/>
                    </a:ext>
                  </a:extLst>
                </a:gridCol>
                <a:gridCol w="580111">
                  <a:extLst>
                    <a:ext uri="{9D8B030D-6E8A-4147-A177-3AD203B41FA5}">
                      <a16:colId xmlns:a16="http://schemas.microsoft.com/office/drawing/2014/main" xmlns="" val="402432539"/>
                    </a:ext>
                  </a:extLst>
                </a:gridCol>
              </a:tblGrid>
              <a:tr h="228600">
                <a:tc>
                  <a:txBody>
                    <a:bodyPr/>
                    <a:lstStyle/>
                    <a:p>
                      <a:r>
                        <a:rPr lang="en-US" sz="1600" dirty="0" smtClean="0">
                          <a:latin typeface="Times New Roman" panose="02020603050405020304" pitchFamily="18" charset="0"/>
                          <a:cs typeface="Times New Roman" panose="02020603050405020304" pitchFamily="18" charset="0"/>
                        </a:rPr>
                        <a:t>B-03</a:t>
                      </a:r>
                      <a:endParaRPr lang="en-IN" sz="1600" dirty="0">
                        <a:latin typeface="Times New Roman" panose="02020603050405020304" pitchFamily="18" charset="0"/>
                        <a:cs typeface="Times New Roman" panose="02020603050405020304" pitchFamily="18" charset="0"/>
                      </a:endParaRP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solidFill>
                  </a:tcPr>
                </a:tc>
                <a:tc>
                  <a:txBody>
                    <a:bodyPr/>
                    <a:lstStyle/>
                    <a:p>
                      <a:pPr algn="ctr"/>
                      <a:r>
                        <a:rPr lang="en-IN" sz="1600" dirty="0">
                          <a:latin typeface="Times New Roman" panose="02020603050405020304" pitchFamily="18" charset="0"/>
                          <a:cs typeface="Times New Roman" panose="02020603050405020304" pitchFamily="18" charset="0"/>
                        </a:rPr>
                        <a:t>Department of Computer Science and Engineering</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50000"/>
                      </a:schemeClr>
                    </a:solidFill>
                  </a:tcPr>
                </a:tc>
                <a:tc>
                  <a:txBody>
                    <a:bodyPr/>
                    <a:lstStyle/>
                    <a:p>
                      <a:pPr algn="ctr"/>
                      <a:r>
                        <a:rPr lang="en-IN" sz="1600" dirty="0">
                          <a:latin typeface="Times New Roman" panose="02020603050405020304" pitchFamily="18" charset="0"/>
                          <a:cs typeface="Times New Roman" panose="02020603050405020304" pitchFamily="18" charset="0"/>
                        </a:rPr>
                        <a:t>Srinivasa Ramanujan Institute of Technology</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8080"/>
                    </a:solidFill>
                  </a:tcPr>
                </a:tc>
                <a:tc>
                  <a:txBody>
                    <a:bodyPr/>
                    <a:lstStyle/>
                    <a:p>
                      <a:r>
                        <a:rPr lang="en-US" sz="1600" dirty="0" smtClean="0">
                          <a:solidFill>
                            <a:schemeClr val="tx1"/>
                          </a:solidFill>
                          <a:latin typeface="Times New Roman" panose="02020603050405020304" pitchFamily="18" charset="0"/>
                          <a:cs typeface="Times New Roman" panose="02020603050405020304" pitchFamily="18" charset="0"/>
                        </a:rPr>
                        <a:t>4</a:t>
                      </a:r>
                      <a:endParaRPr lang="en-IN" sz="1600" dirty="0">
                        <a:solidFill>
                          <a:schemeClr val="tx1"/>
                        </a:solidFill>
                        <a:latin typeface="Times New Roman" panose="02020603050405020304" pitchFamily="18" charset="0"/>
                        <a:cs typeface="Times New Roman" panose="02020603050405020304" pitchFamily="18" charset="0"/>
                      </a:endParaRP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xmlns="" val="455470646"/>
                  </a:ext>
                </a:extLst>
              </a:tr>
            </a:tbl>
          </a:graphicData>
        </a:graphic>
      </p:graphicFrame>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PlaceHolder 1"/>
          <p:cNvSpPr>
            <a:spLocks noGrp="1"/>
          </p:cNvSpPr>
          <p:nvPr>
            <p:ph type="title"/>
          </p:nvPr>
        </p:nvSpPr>
        <p:spPr>
          <a:xfrm>
            <a:off x="0" y="232920"/>
            <a:ext cx="12191760" cy="714600"/>
          </a:xfrm>
          <a:prstGeom prst="rect">
            <a:avLst/>
          </a:prstGeom>
          <a:solidFill>
            <a:srgbClr val="FF6600"/>
          </a:solidFill>
          <a:ln w="0">
            <a:noFill/>
          </a:ln>
          <a:effectLst>
            <a:outerShdw blurRad="44280" dist="28080" dir="5400000" rotWithShape="0">
              <a:srgbClr val="000000">
                <a:alpha val="32000"/>
              </a:srgbClr>
            </a:outerShdw>
          </a:effectLst>
        </p:spPr>
        <p:txBody>
          <a:bodyPr lIns="90000" tIns="45000" rIns="90000" bIns="45000" anchor="t">
            <a:noAutofit/>
          </a:bodyPr>
          <a:lstStyle/>
          <a:p>
            <a:pPr>
              <a:lnSpc>
                <a:spcPct val="90000"/>
              </a:lnSpc>
            </a:pPr>
            <a:r>
              <a:rPr lang="en-US" sz="4400" b="0" strike="noStrike" spc="-1" dirty="0">
                <a:solidFill>
                  <a:srgbClr val="FFFFFF"/>
                </a:solidFill>
                <a:latin typeface="Times New Roman" panose="02020603050405020304"/>
              </a:rPr>
              <a:t>Problem Statement</a:t>
            </a:r>
            <a:endParaRPr lang="en-US" sz="4400" b="0" strike="noStrike" spc="-1" dirty="0">
              <a:solidFill>
                <a:srgbClr val="000000"/>
              </a:solidFill>
              <a:latin typeface="Calibri" panose="020F0502020204030204"/>
            </a:endParaRPr>
          </a:p>
        </p:txBody>
      </p:sp>
      <p:sp>
        <p:nvSpPr>
          <p:cNvPr id="102" name="PlaceHolder 2"/>
          <p:cNvSpPr>
            <a:spLocks noGrp="1"/>
          </p:cNvSpPr>
          <p:nvPr>
            <p:ph/>
          </p:nvPr>
        </p:nvSpPr>
        <p:spPr>
          <a:xfrm>
            <a:off x="199440" y="1097280"/>
            <a:ext cx="11459520" cy="5075280"/>
          </a:xfrm>
          <a:prstGeom prst="rect">
            <a:avLst/>
          </a:prstGeom>
          <a:noFill/>
          <a:ln w="0">
            <a:noFill/>
          </a:ln>
        </p:spPr>
        <p:txBody>
          <a:bodyPr anchor="t">
            <a:normAutofit/>
          </a:bodyPr>
          <a:lstStyle/>
          <a:p>
            <a:pPr marL="457200" indent="-457200" algn="just">
              <a:buFont typeface="Wingdings" pitchFamily="2" charset="2"/>
              <a:buChar char="Ø"/>
            </a:pPr>
            <a:r>
              <a:rPr lang="en-US" sz="2400" b="1" dirty="0"/>
              <a:t>Manual identification of rice cooking stages is subjective and inconsistent</a:t>
            </a:r>
            <a:r>
              <a:rPr lang="en-US" sz="2400" dirty="0"/>
              <a:t>, as it depends heavily on a person’s experience, perception, and environmental conditions</a:t>
            </a:r>
            <a:r>
              <a:rPr lang="en-US" sz="2400" dirty="0" smtClean="0"/>
              <a:t>.</a:t>
            </a:r>
          </a:p>
          <a:p>
            <a:pPr algn="just"/>
            <a:endParaRPr lang="en-US" sz="2400" dirty="0"/>
          </a:p>
          <a:p>
            <a:pPr marL="457200" indent="-457200" algn="just">
              <a:buFont typeface="Wingdings" pitchFamily="2" charset="2"/>
              <a:buChar char="Ø"/>
            </a:pPr>
            <a:r>
              <a:rPr lang="en-US" sz="2400" b="1" dirty="0"/>
              <a:t>Large-scale or automated cooking environments cannot rely on human inspection</a:t>
            </a:r>
            <a:r>
              <a:rPr lang="en-US" sz="2400" dirty="0"/>
              <a:t>, leading to inefficiency, delays, and frequent errors in determining whether rice is raw, semi-cooked, or fully cooked</a:t>
            </a:r>
            <a:r>
              <a:rPr lang="en-US" sz="2400" dirty="0" smtClean="0"/>
              <a:t>.</a:t>
            </a:r>
          </a:p>
          <a:p>
            <a:pPr algn="just"/>
            <a:endParaRPr lang="en-US" sz="2400" dirty="0"/>
          </a:p>
          <a:p>
            <a:pPr marL="457200" indent="-457200" algn="just">
              <a:buFont typeface="Wingdings" pitchFamily="2" charset="2"/>
              <a:buChar char="Ø"/>
            </a:pPr>
            <a:r>
              <a:rPr lang="en-US" sz="2400" b="1" dirty="0"/>
              <a:t>There is no automated, accurate, and real-time system</a:t>
            </a:r>
            <a:r>
              <a:rPr lang="en-US" sz="2400" dirty="0"/>
              <a:t> capable of classifying rice cooking stages from images, resulting in quality variations and difficulty in maintaining uniform cooking standards.</a:t>
            </a:r>
          </a:p>
        </p:txBody>
      </p:sp>
      <p:sp>
        <p:nvSpPr>
          <p:cNvPr id="4" name="Rectangle 3">
            <a:extLst>
              <a:ext uri="{FF2B5EF4-FFF2-40B4-BE49-F238E27FC236}">
                <a16:creationId xmlns:a16="http://schemas.microsoft.com/office/drawing/2014/main" xmlns="" id="{67980CE8-0DF4-ADFB-351E-3165106C569D}"/>
              </a:ext>
            </a:extLst>
          </p:cNvPr>
          <p:cNvSpPr/>
          <p:nvPr/>
        </p:nvSpPr>
        <p:spPr>
          <a:xfrm>
            <a:off x="0" y="0"/>
            <a:ext cx="12192000" cy="288000"/>
          </a:xfrm>
          <a:prstGeom prst="rect">
            <a:avLst/>
          </a:prstGeom>
          <a:solidFill>
            <a:srgbClr val="0080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Times New Roman" panose="02020603050405020304" pitchFamily="18" charset="0"/>
              <a:cs typeface="Times New Roman" panose="02020603050405020304" pitchFamily="18" charset="0"/>
            </a:endParaRPr>
          </a:p>
          <a:p>
            <a:pPr algn="ctr"/>
            <a:r>
              <a:rPr lang="en-US" dirty="0" smtClean="0">
                <a:latin typeface="Times New Roman" panose="02020603050405020304" pitchFamily="18" charset="0"/>
                <a:cs typeface="Times New Roman" panose="02020603050405020304" pitchFamily="18" charset="0"/>
              </a:rPr>
              <a:t>An </a:t>
            </a:r>
            <a:r>
              <a:rPr lang="en-US" dirty="0">
                <a:latin typeface="Times New Roman" panose="02020603050405020304" pitchFamily="18" charset="0"/>
                <a:cs typeface="Times New Roman" panose="02020603050405020304" pitchFamily="18" charset="0"/>
              </a:rPr>
              <a:t>Intelligent Framework for </a:t>
            </a:r>
            <a:r>
              <a:rPr lang="en-US" dirty="0" err="1">
                <a:latin typeface="Times New Roman" panose="02020603050405020304" pitchFamily="18" charset="0"/>
                <a:cs typeface="Times New Roman" panose="02020603050405020304" pitchFamily="18" charset="0"/>
              </a:rPr>
              <a:t>Identifing</a:t>
            </a:r>
            <a:r>
              <a:rPr lang="en-US" dirty="0">
                <a:latin typeface="Times New Roman" panose="02020603050405020304" pitchFamily="18" charset="0"/>
                <a:cs typeface="Times New Roman" panose="02020603050405020304" pitchFamily="18" charset="0"/>
              </a:rPr>
              <a:t> the Cooking State of Rice</a:t>
            </a:r>
            <a:endParaRPr lang="en-IN" dirty="0">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xmlns="" id="{40F8C159-E10E-1263-C3EF-28CF1B6055A5}"/>
              </a:ext>
            </a:extLst>
          </p:cNvPr>
          <p:cNvGraphicFramePr>
            <a:graphicFrameLocks noGrp="1"/>
          </p:cNvGraphicFramePr>
          <p:nvPr>
            <p:extLst>
              <p:ext uri="{D42A27DB-BD31-4B8C-83A1-F6EECF244321}">
                <p14:modId xmlns:p14="http://schemas.microsoft.com/office/powerpoint/2010/main" val="691408819"/>
              </p:ext>
            </p:extLst>
          </p:nvPr>
        </p:nvGraphicFramePr>
        <p:xfrm>
          <a:off x="-1" y="6629399"/>
          <a:ext cx="12192001" cy="314926"/>
        </p:xfrm>
        <a:graphic>
          <a:graphicData uri="http://schemas.openxmlformats.org/drawingml/2006/table">
            <a:tbl>
              <a:tblPr firstRow="1" bandRow="1">
                <a:tableStyleId>{5C22544A-7EE6-4342-B048-85BDC9FD1C3A}</a:tableStyleId>
              </a:tblPr>
              <a:tblGrid>
                <a:gridCol w="689634">
                  <a:extLst>
                    <a:ext uri="{9D8B030D-6E8A-4147-A177-3AD203B41FA5}">
                      <a16:colId xmlns:a16="http://schemas.microsoft.com/office/drawing/2014/main" xmlns="" val="2456744558"/>
                    </a:ext>
                  </a:extLst>
                </a:gridCol>
                <a:gridCol w="5406367">
                  <a:extLst>
                    <a:ext uri="{9D8B030D-6E8A-4147-A177-3AD203B41FA5}">
                      <a16:colId xmlns:a16="http://schemas.microsoft.com/office/drawing/2014/main" xmlns="" val="1228853089"/>
                    </a:ext>
                  </a:extLst>
                </a:gridCol>
                <a:gridCol w="5515889">
                  <a:extLst>
                    <a:ext uri="{9D8B030D-6E8A-4147-A177-3AD203B41FA5}">
                      <a16:colId xmlns:a16="http://schemas.microsoft.com/office/drawing/2014/main" xmlns="" val="2344483369"/>
                    </a:ext>
                  </a:extLst>
                </a:gridCol>
                <a:gridCol w="580111">
                  <a:extLst>
                    <a:ext uri="{9D8B030D-6E8A-4147-A177-3AD203B41FA5}">
                      <a16:colId xmlns:a16="http://schemas.microsoft.com/office/drawing/2014/main" xmlns="" val="402432539"/>
                    </a:ext>
                  </a:extLst>
                </a:gridCol>
              </a:tblGrid>
              <a:tr h="228600">
                <a:tc>
                  <a:txBody>
                    <a:bodyPr/>
                    <a:lstStyle/>
                    <a:p>
                      <a:r>
                        <a:rPr lang="en-US" sz="1600" dirty="0" smtClean="0">
                          <a:latin typeface="Times New Roman" panose="02020603050405020304" pitchFamily="18" charset="0"/>
                          <a:cs typeface="Times New Roman" panose="02020603050405020304" pitchFamily="18" charset="0"/>
                        </a:rPr>
                        <a:t>B-03</a:t>
                      </a:r>
                      <a:endParaRPr lang="en-IN" sz="1600" dirty="0">
                        <a:latin typeface="Times New Roman" panose="02020603050405020304" pitchFamily="18" charset="0"/>
                        <a:cs typeface="Times New Roman" panose="02020603050405020304" pitchFamily="18" charset="0"/>
                      </a:endParaRP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solidFill>
                  </a:tcPr>
                </a:tc>
                <a:tc>
                  <a:txBody>
                    <a:bodyPr/>
                    <a:lstStyle/>
                    <a:p>
                      <a:pPr algn="ctr"/>
                      <a:r>
                        <a:rPr lang="en-IN" sz="1600" dirty="0">
                          <a:latin typeface="Times New Roman" panose="02020603050405020304" pitchFamily="18" charset="0"/>
                          <a:cs typeface="Times New Roman" panose="02020603050405020304" pitchFamily="18" charset="0"/>
                        </a:rPr>
                        <a:t>Department of Computer Science and Engineering</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50000"/>
                      </a:schemeClr>
                    </a:solidFill>
                  </a:tcPr>
                </a:tc>
                <a:tc>
                  <a:txBody>
                    <a:bodyPr/>
                    <a:lstStyle/>
                    <a:p>
                      <a:pPr algn="ctr"/>
                      <a:r>
                        <a:rPr lang="en-IN" sz="1600" dirty="0">
                          <a:latin typeface="Times New Roman" panose="02020603050405020304" pitchFamily="18" charset="0"/>
                          <a:cs typeface="Times New Roman" panose="02020603050405020304" pitchFamily="18" charset="0"/>
                        </a:rPr>
                        <a:t>Srinivasa Ramanujan Institute of Technology</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8080"/>
                    </a:solidFill>
                  </a:tcPr>
                </a:tc>
                <a:tc>
                  <a:txBody>
                    <a:bodyPr/>
                    <a:lstStyle/>
                    <a:p>
                      <a:r>
                        <a:rPr lang="en-US" sz="1600" dirty="0" smtClean="0">
                          <a:solidFill>
                            <a:schemeClr val="tx1"/>
                          </a:solidFill>
                          <a:latin typeface="Times New Roman" panose="02020603050405020304" pitchFamily="18" charset="0"/>
                          <a:cs typeface="Times New Roman" panose="02020603050405020304" pitchFamily="18" charset="0"/>
                        </a:rPr>
                        <a:t>5</a:t>
                      </a:r>
                      <a:endParaRPr lang="en-IN" sz="1600" dirty="0">
                        <a:solidFill>
                          <a:schemeClr val="tx1"/>
                        </a:solidFill>
                        <a:latin typeface="Times New Roman" panose="02020603050405020304" pitchFamily="18" charset="0"/>
                        <a:cs typeface="Times New Roman" panose="02020603050405020304" pitchFamily="18" charset="0"/>
                      </a:endParaRP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xmlns="" val="455470646"/>
                  </a:ext>
                </a:extLst>
              </a:tr>
            </a:tbl>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PlaceHolder 1"/>
          <p:cNvSpPr>
            <a:spLocks noGrp="1"/>
          </p:cNvSpPr>
          <p:nvPr>
            <p:ph type="title"/>
          </p:nvPr>
        </p:nvSpPr>
        <p:spPr>
          <a:xfrm>
            <a:off x="0" y="232920"/>
            <a:ext cx="12191760" cy="714600"/>
          </a:xfrm>
          <a:prstGeom prst="rect">
            <a:avLst/>
          </a:prstGeom>
          <a:solidFill>
            <a:srgbClr val="FF6600"/>
          </a:solidFill>
          <a:ln w="0">
            <a:noFill/>
          </a:ln>
          <a:effectLst>
            <a:outerShdw blurRad="44280" dist="28080" dir="5400000" rotWithShape="0">
              <a:srgbClr val="000000">
                <a:alpha val="32000"/>
              </a:srgbClr>
            </a:outerShdw>
          </a:effectLst>
        </p:spPr>
        <p:txBody>
          <a:bodyPr lIns="90000" tIns="45000" rIns="90000" bIns="45000" anchor="t">
            <a:noAutofit/>
          </a:bodyPr>
          <a:lstStyle/>
          <a:p>
            <a:pPr>
              <a:lnSpc>
                <a:spcPct val="90000"/>
              </a:lnSpc>
            </a:pPr>
            <a:r>
              <a:rPr lang="en-US" sz="4400" b="0" strike="noStrike" spc="-1" dirty="0">
                <a:solidFill>
                  <a:srgbClr val="FFFFFF"/>
                </a:solidFill>
                <a:latin typeface="Times New Roman" panose="02020603050405020304"/>
              </a:rPr>
              <a:t>Objectives of Project</a:t>
            </a:r>
            <a:endParaRPr lang="en-US" sz="4400" b="0" strike="noStrike" spc="-1" dirty="0">
              <a:solidFill>
                <a:srgbClr val="000000"/>
              </a:solidFill>
              <a:latin typeface="Calibri" panose="020F0502020204030204"/>
            </a:endParaRPr>
          </a:p>
        </p:txBody>
      </p:sp>
      <p:sp>
        <p:nvSpPr>
          <p:cNvPr id="104" name="PlaceHolder 2"/>
          <p:cNvSpPr>
            <a:spLocks noGrp="1"/>
          </p:cNvSpPr>
          <p:nvPr>
            <p:ph/>
          </p:nvPr>
        </p:nvSpPr>
        <p:spPr>
          <a:xfrm>
            <a:off x="199440" y="1133280"/>
            <a:ext cx="11778840" cy="5394600"/>
          </a:xfrm>
          <a:prstGeom prst="rect">
            <a:avLst/>
          </a:prstGeom>
          <a:noFill/>
          <a:ln w="0">
            <a:noFill/>
          </a:ln>
        </p:spPr>
        <p:txBody>
          <a:bodyPr anchor="t">
            <a:normAutofit/>
          </a:bodyPr>
          <a:lstStyle/>
          <a:p>
            <a:pPr marL="457200" indent="-457200">
              <a:buFont typeface="Wingdings" pitchFamily="2" charset="2"/>
              <a:buChar char="q"/>
            </a:pPr>
            <a:r>
              <a:rPr lang="en-US" sz="2800" b="1" dirty="0"/>
              <a:t>Research Objective 1:</a:t>
            </a:r>
            <a:r>
              <a:rPr lang="en-US" sz="2800" dirty="0"/>
              <a:t/>
            </a:r>
            <a:br>
              <a:rPr lang="en-US" sz="2800" dirty="0"/>
            </a:br>
            <a:r>
              <a:rPr lang="en-US" sz="2800" dirty="0"/>
              <a:t>To develop a deep learning–based model that accurately classifies rice images into raw, semi-cooked, and fully cooked stages using transfer learning techniques</a:t>
            </a:r>
            <a:r>
              <a:rPr lang="en-US" sz="2800" dirty="0" smtClean="0"/>
              <a:t>.</a:t>
            </a:r>
          </a:p>
          <a:p>
            <a:endParaRPr lang="en-US" sz="2800" dirty="0"/>
          </a:p>
          <a:p>
            <a:pPr marL="457200" indent="-457200">
              <a:buFont typeface="Wingdings" pitchFamily="2" charset="2"/>
              <a:buChar char="q"/>
            </a:pPr>
            <a:r>
              <a:rPr lang="en-US" sz="2800" b="1" dirty="0"/>
              <a:t>Research Objective 2:</a:t>
            </a:r>
            <a:r>
              <a:rPr lang="en-US" sz="2800" dirty="0"/>
              <a:t/>
            </a:r>
            <a:br>
              <a:rPr lang="en-US" sz="2800" dirty="0"/>
            </a:br>
            <a:r>
              <a:rPr lang="en-US" sz="2800" dirty="0"/>
              <a:t>To design an efficient image-processing workflow that enhances visual features and improves the reliability of cooking-stage prediction in real-time food assessment systems.</a:t>
            </a:r>
          </a:p>
        </p:txBody>
      </p:sp>
      <p:sp>
        <p:nvSpPr>
          <p:cNvPr id="4" name="Rectangle 3">
            <a:extLst>
              <a:ext uri="{FF2B5EF4-FFF2-40B4-BE49-F238E27FC236}">
                <a16:creationId xmlns:a16="http://schemas.microsoft.com/office/drawing/2014/main" xmlns="" id="{67980CE8-0DF4-ADFB-351E-3165106C569D}"/>
              </a:ext>
            </a:extLst>
          </p:cNvPr>
          <p:cNvSpPr/>
          <p:nvPr/>
        </p:nvSpPr>
        <p:spPr>
          <a:xfrm>
            <a:off x="0" y="0"/>
            <a:ext cx="12192000" cy="288000"/>
          </a:xfrm>
          <a:prstGeom prst="rect">
            <a:avLst/>
          </a:prstGeom>
          <a:solidFill>
            <a:srgbClr val="0080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latin typeface="Times New Roman" panose="02020603050405020304" pitchFamily="18" charset="0"/>
              <a:cs typeface="Times New Roman" panose="02020603050405020304" pitchFamily="18" charset="0"/>
            </a:endParaRPr>
          </a:p>
          <a:p>
            <a:pPr algn="ctr"/>
            <a:r>
              <a:rPr lang="en-US" dirty="0" smtClean="0">
                <a:latin typeface="Times New Roman" panose="02020603050405020304" pitchFamily="18" charset="0"/>
                <a:cs typeface="Times New Roman" panose="02020603050405020304" pitchFamily="18" charset="0"/>
              </a:rPr>
              <a:t>An </a:t>
            </a:r>
            <a:r>
              <a:rPr lang="en-US" dirty="0">
                <a:latin typeface="Times New Roman" panose="02020603050405020304" pitchFamily="18" charset="0"/>
                <a:cs typeface="Times New Roman" panose="02020603050405020304" pitchFamily="18" charset="0"/>
              </a:rPr>
              <a:t>Intelligent Framework for </a:t>
            </a:r>
            <a:r>
              <a:rPr lang="en-US" dirty="0" err="1">
                <a:latin typeface="Times New Roman" panose="02020603050405020304" pitchFamily="18" charset="0"/>
                <a:cs typeface="Times New Roman" panose="02020603050405020304" pitchFamily="18" charset="0"/>
              </a:rPr>
              <a:t>Identifing</a:t>
            </a:r>
            <a:r>
              <a:rPr lang="en-US" dirty="0">
                <a:latin typeface="Times New Roman" panose="02020603050405020304" pitchFamily="18" charset="0"/>
                <a:cs typeface="Times New Roman" panose="02020603050405020304" pitchFamily="18" charset="0"/>
              </a:rPr>
              <a:t> the Cooking State of Rice</a:t>
            </a:r>
            <a:endParaRPr lang="en-IN" dirty="0">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xmlns="" id="{40F8C159-E10E-1263-C3EF-28CF1B6055A5}"/>
              </a:ext>
            </a:extLst>
          </p:cNvPr>
          <p:cNvGraphicFramePr>
            <a:graphicFrameLocks noGrp="1"/>
          </p:cNvGraphicFramePr>
          <p:nvPr>
            <p:extLst>
              <p:ext uri="{D42A27DB-BD31-4B8C-83A1-F6EECF244321}">
                <p14:modId xmlns:p14="http://schemas.microsoft.com/office/powerpoint/2010/main" val="2325172473"/>
              </p:ext>
            </p:extLst>
          </p:nvPr>
        </p:nvGraphicFramePr>
        <p:xfrm>
          <a:off x="-1" y="6629399"/>
          <a:ext cx="12192001" cy="314926"/>
        </p:xfrm>
        <a:graphic>
          <a:graphicData uri="http://schemas.openxmlformats.org/drawingml/2006/table">
            <a:tbl>
              <a:tblPr firstRow="1" bandRow="1">
                <a:tableStyleId>{5C22544A-7EE6-4342-B048-85BDC9FD1C3A}</a:tableStyleId>
              </a:tblPr>
              <a:tblGrid>
                <a:gridCol w="689634">
                  <a:extLst>
                    <a:ext uri="{9D8B030D-6E8A-4147-A177-3AD203B41FA5}">
                      <a16:colId xmlns:a16="http://schemas.microsoft.com/office/drawing/2014/main" xmlns="" val="2456744558"/>
                    </a:ext>
                  </a:extLst>
                </a:gridCol>
                <a:gridCol w="5406367">
                  <a:extLst>
                    <a:ext uri="{9D8B030D-6E8A-4147-A177-3AD203B41FA5}">
                      <a16:colId xmlns:a16="http://schemas.microsoft.com/office/drawing/2014/main" xmlns="" val="1228853089"/>
                    </a:ext>
                  </a:extLst>
                </a:gridCol>
                <a:gridCol w="5515889">
                  <a:extLst>
                    <a:ext uri="{9D8B030D-6E8A-4147-A177-3AD203B41FA5}">
                      <a16:colId xmlns:a16="http://schemas.microsoft.com/office/drawing/2014/main" xmlns="" val="2344483369"/>
                    </a:ext>
                  </a:extLst>
                </a:gridCol>
                <a:gridCol w="580111">
                  <a:extLst>
                    <a:ext uri="{9D8B030D-6E8A-4147-A177-3AD203B41FA5}">
                      <a16:colId xmlns:a16="http://schemas.microsoft.com/office/drawing/2014/main" xmlns="" val="402432539"/>
                    </a:ext>
                  </a:extLst>
                </a:gridCol>
              </a:tblGrid>
              <a:tr h="228600">
                <a:tc>
                  <a:txBody>
                    <a:bodyPr/>
                    <a:lstStyle/>
                    <a:p>
                      <a:r>
                        <a:rPr lang="en-US" sz="1600" dirty="0" smtClean="0">
                          <a:latin typeface="Times New Roman" panose="02020603050405020304" pitchFamily="18" charset="0"/>
                          <a:cs typeface="Times New Roman" panose="02020603050405020304" pitchFamily="18" charset="0"/>
                        </a:rPr>
                        <a:t>B-03</a:t>
                      </a:r>
                      <a:endParaRPr lang="en-IN" sz="1600" dirty="0">
                        <a:latin typeface="Times New Roman" panose="02020603050405020304" pitchFamily="18" charset="0"/>
                        <a:cs typeface="Times New Roman" panose="02020603050405020304" pitchFamily="18" charset="0"/>
                      </a:endParaRP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solidFill>
                  </a:tcPr>
                </a:tc>
                <a:tc>
                  <a:txBody>
                    <a:bodyPr/>
                    <a:lstStyle/>
                    <a:p>
                      <a:pPr algn="ctr"/>
                      <a:r>
                        <a:rPr lang="en-IN" sz="1600" dirty="0">
                          <a:latin typeface="Times New Roman" panose="02020603050405020304" pitchFamily="18" charset="0"/>
                          <a:cs typeface="Times New Roman" panose="02020603050405020304" pitchFamily="18" charset="0"/>
                        </a:rPr>
                        <a:t>Department of Computer Science and Engineering</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50000"/>
                      </a:schemeClr>
                    </a:solidFill>
                  </a:tcPr>
                </a:tc>
                <a:tc>
                  <a:txBody>
                    <a:bodyPr/>
                    <a:lstStyle/>
                    <a:p>
                      <a:pPr algn="ctr"/>
                      <a:r>
                        <a:rPr lang="en-IN" sz="1600" dirty="0">
                          <a:latin typeface="Times New Roman" panose="02020603050405020304" pitchFamily="18" charset="0"/>
                          <a:cs typeface="Times New Roman" panose="02020603050405020304" pitchFamily="18" charset="0"/>
                        </a:rPr>
                        <a:t>Srinivasa Ramanujan Institute of Technology</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8080"/>
                    </a:solidFill>
                  </a:tcPr>
                </a:tc>
                <a:tc>
                  <a:txBody>
                    <a:bodyPr/>
                    <a:lstStyle/>
                    <a:p>
                      <a:r>
                        <a:rPr lang="en-US" sz="1600" dirty="0" smtClean="0">
                          <a:solidFill>
                            <a:schemeClr val="tx1"/>
                          </a:solidFill>
                          <a:latin typeface="Times New Roman" panose="02020603050405020304" pitchFamily="18" charset="0"/>
                          <a:cs typeface="Times New Roman" panose="02020603050405020304" pitchFamily="18" charset="0"/>
                        </a:rPr>
                        <a:t>6</a:t>
                      </a:r>
                      <a:endParaRPr lang="en-IN" sz="1600" dirty="0">
                        <a:solidFill>
                          <a:schemeClr val="tx1"/>
                        </a:solidFill>
                        <a:latin typeface="Times New Roman" panose="02020603050405020304" pitchFamily="18" charset="0"/>
                        <a:cs typeface="Times New Roman" panose="02020603050405020304" pitchFamily="18" charset="0"/>
                      </a:endParaRP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xmlns="" val="455470646"/>
                  </a:ext>
                </a:extLst>
              </a:tr>
            </a:tbl>
          </a:graphicData>
        </a:graphic>
      </p:graphicFrame>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PlaceHolder 1"/>
          <p:cNvSpPr>
            <a:spLocks noGrp="1"/>
          </p:cNvSpPr>
          <p:nvPr>
            <p:ph type="title"/>
          </p:nvPr>
        </p:nvSpPr>
        <p:spPr>
          <a:xfrm>
            <a:off x="0" y="232920"/>
            <a:ext cx="12191760" cy="714600"/>
          </a:xfrm>
          <a:prstGeom prst="rect">
            <a:avLst/>
          </a:prstGeom>
          <a:solidFill>
            <a:srgbClr val="FF6600"/>
          </a:solidFill>
          <a:ln w="0">
            <a:noFill/>
          </a:ln>
          <a:effectLst>
            <a:outerShdw blurRad="44280" dist="28080" dir="5400000" rotWithShape="0">
              <a:srgbClr val="000000">
                <a:alpha val="32000"/>
              </a:srgbClr>
            </a:outerShdw>
          </a:effectLst>
        </p:spPr>
        <p:txBody>
          <a:bodyPr lIns="90000" tIns="45000" rIns="90000" bIns="45000" anchor="t">
            <a:noAutofit/>
          </a:bodyPr>
          <a:lstStyle/>
          <a:p>
            <a:pPr algn="l">
              <a:lnSpc>
                <a:spcPct val="90000"/>
              </a:lnSpc>
              <a:spcBef>
                <a:spcPts val="1000"/>
              </a:spcBef>
            </a:pPr>
            <a:r>
              <a:rPr lang="en-US" sz="4400" b="0" strike="noStrike" spc="-1" dirty="0" smtClean="0">
                <a:solidFill>
                  <a:schemeClr val="bg1"/>
                </a:solidFill>
                <a:latin typeface="Times New Roman" panose="02020603050405020304"/>
              </a:rPr>
              <a:t>Literature </a:t>
            </a:r>
            <a:r>
              <a:rPr lang="en-US" sz="4400" b="0" strike="noStrike" spc="-1" dirty="0">
                <a:solidFill>
                  <a:schemeClr val="bg1"/>
                </a:solidFill>
                <a:latin typeface="Times New Roman" panose="02020603050405020304"/>
              </a:rPr>
              <a:t>survey for objectives</a:t>
            </a:r>
            <a:endParaRPr lang="en-US" sz="4400" b="0" strike="noStrike" spc="-1" dirty="0">
              <a:solidFill>
                <a:schemeClr val="bg1"/>
              </a:solidFill>
              <a:latin typeface="Calibri" panose="020F0502020204030204"/>
            </a:endParaRPr>
          </a:p>
        </p:txBody>
      </p:sp>
      <p:sp>
        <p:nvSpPr>
          <p:cNvPr id="106" name="PlaceHolder 2"/>
          <p:cNvSpPr>
            <a:spLocks noGrp="1"/>
          </p:cNvSpPr>
          <p:nvPr>
            <p:ph/>
          </p:nvPr>
        </p:nvSpPr>
        <p:spPr>
          <a:xfrm>
            <a:off x="206580" y="1219200"/>
            <a:ext cx="11778840" cy="3931920"/>
          </a:xfrm>
          <a:prstGeom prst="rect">
            <a:avLst/>
          </a:prstGeom>
          <a:noFill/>
          <a:ln w="0">
            <a:noFill/>
          </a:ln>
        </p:spPr>
        <p:txBody>
          <a:bodyPr anchor="t">
            <a:normAutofit/>
          </a:bodyPr>
          <a:lstStyle/>
          <a:p>
            <a:pPr marL="457200" indent="-457200">
              <a:buFont typeface="Wingdings" pitchFamily="2" charset="2"/>
              <a:buChar char="Ø"/>
            </a:pPr>
            <a:r>
              <a:rPr lang="en-US" sz="2400" b="1" dirty="0" smtClean="0"/>
              <a:t>Deep </a:t>
            </a:r>
            <a:r>
              <a:rPr lang="en-US" sz="2400" b="1" dirty="0"/>
              <a:t>learning for rice image analysis</a:t>
            </a:r>
            <a:r>
              <a:rPr lang="en-US" sz="2400" dirty="0"/>
              <a:t/>
            </a:r>
            <a:br>
              <a:rPr lang="en-US" sz="2400" dirty="0"/>
            </a:br>
            <a:r>
              <a:rPr lang="en-US" sz="2400" dirty="0" err="1"/>
              <a:t>Zapotoczny</a:t>
            </a:r>
            <a:r>
              <a:rPr lang="en-US" sz="2400" dirty="0"/>
              <a:t> and </a:t>
            </a:r>
            <a:r>
              <a:rPr lang="en-US" sz="2400" dirty="0" err="1"/>
              <a:t>Graczyk</a:t>
            </a:r>
            <a:r>
              <a:rPr lang="en-US" sz="2400" dirty="0"/>
              <a:t> applied deep learning with image scanning technologies to assess rice quality, showing that CNN-based approaches can reliably classify visual grain characteristics</a:t>
            </a:r>
            <a:r>
              <a:rPr lang="en-US" sz="2400" dirty="0" smtClean="0"/>
              <a:t>.</a:t>
            </a:r>
          </a:p>
          <a:p>
            <a:endParaRPr lang="en-US" sz="2400" dirty="0"/>
          </a:p>
          <a:p>
            <a:pPr marL="457200" indent="-457200">
              <a:buFont typeface="Wingdings" pitchFamily="2" charset="2"/>
              <a:buChar char="Ø"/>
            </a:pPr>
            <a:r>
              <a:rPr lang="en-US" sz="2400" b="1" dirty="0"/>
              <a:t>Feature extraction and selection in rice varieties</a:t>
            </a:r>
            <a:r>
              <a:rPr lang="en-US" sz="2400" dirty="0"/>
              <a:t/>
            </a:r>
            <a:br>
              <a:rPr lang="en-US" sz="2400" dirty="0"/>
            </a:br>
            <a:r>
              <a:rPr lang="en-US" sz="2400" dirty="0"/>
              <a:t>Cheng et </a:t>
            </a:r>
            <a:r>
              <a:rPr lang="en-US" sz="2400" dirty="0" smtClean="0"/>
              <a:t>al. </a:t>
            </a:r>
            <a:r>
              <a:rPr lang="en-US" sz="2400" dirty="0"/>
              <a:t>used machine learning to analyze volatile compounds in pigmented rice, emphasizing the importance of feature selection techniques for accurate classification.</a:t>
            </a:r>
          </a:p>
          <a:p>
            <a:r>
              <a:rPr lang="en-US" sz="2400" b="0" strike="noStrike" spc="-1" dirty="0">
                <a:solidFill>
                  <a:srgbClr val="000000"/>
                </a:solidFill>
                <a:latin typeface="Times New Roman" panose="02020603050405020304"/>
              </a:rPr>
              <a:t>                   </a:t>
            </a:r>
          </a:p>
        </p:txBody>
      </p:sp>
      <p:sp>
        <p:nvSpPr>
          <p:cNvPr id="4" name="Rectangle 3">
            <a:extLst>
              <a:ext uri="{FF2B5EF4-FFF2-40B4-BE49-F238E27FC236}">
                <a16:creationId xmlns:a16="http://schemas.microsoft.com/office/drawing/2014/main" xmlns="" id="{67980CE8-0DF4-ADFB-351E-3165106C569D}"/>
              </a:ext>
            </a:extLst>
          </p:cNvPr>
          <p:cNvSpPr/>
          <p:nvPr/>
        </p:nvSpPr>
        <p:spPr>
          <a:xfrm>
            <a:off x="0" y="0"/>
            <a:ext cx="12192000" cy="288000"/>
          </a:xfrm>
          <a:prstGeom prst="rect">
            <a:avLst/>
          </a:prstGeom>
          <a:solidFill>
            <a:srgbClr val="0080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Times New Roman" panose="02020603050405020304" pitchFamily="18" charset="0"/>
              <a:cs typeface="Times New Roman" panose="02020603050405020304" pitchFamily="18" charset="0"/>
            </a:endParaRPr>
          </a:p>
          <a:p>
            <a:pPr algn="ctr"/>
            <a:r>
              <a:rPr lang="en-US" dirty="0" smtClean="0">
                <a:latin typeface="Times New Roman" panose="02020603050405020304" pitchFamily="18" charset="0"/>
                <a:cs typeface="Times New Roman" panose="02020603050405020304" pitchFamily="18" charset="0"/>
              </a:rPr>
              <a:t>An </a:t>
            </a:r>
            <a:r>
              <a:rPr lang="en-US" dirty="0">
                <a:latin typeface="Times New Roman" panose="02020603050405020304" pitchFamily="18" charset="0"/>
                <a:cs typeface="Times New Roman" panose="02020603050405020304" pitchFamily="18" charset="0"/>
              </a:rPr>
              <a:t>Intelligent Framework for </a:t>
            </a:r>
            <a:r>
              <a:rPr lang="en-US" dirty="0" err="1">
                <a:latin typeface="Times New Roman" panose="02020603050405020304" pitchFamily="18" charset="0"/>
                <a:cs typeface="Times New Roman" panose="02020603050405020304" pitchFamily="18" charset="0"/>
              </a:rPr>
              <a:t>Identifing</a:t>
            </a:r>
            <a:r>
              <a:rPr lang="en-US" dirty="0">
                <a:latin typeface="Times New Roman" panose="02020603050405020304" pitchFamily="18" charset="0"/>
                <a:cs typeface="Times New Roman" panose="02020603050405020304" pitchFamily="18" charset="0"/>
              </a:rPr>
              <a:t> the Cooking State of Rice</a:t>
            </a:r>
            <a:endParaRPr lang="en-IN" dirty="0">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xmlns="" id="{40F8C159-E10E-1263-C3EF-28CF1B6055A5}"/>
              </a:ext>
            </a:extLst>
          </p:cNvPr>
          <p:cNvGraphicFramePr>
            <a:graphicFrameLocks noGrp="1"/>
          </p:cNvGraphicFramePr>
          <p:nvPr>
            <p:extLst>
              <p:ext uri="{D42A27DB-BD31-4B8C-83A1-F6EECF244321}">
                <p14:modId xmlns:p14="http://schemas.microsoft.com/office/powerpoint/2010/main" val="1797015344"/>
              </p:ext>
            </p:extLst>
          </p:nvPr>
        </p:nvGraphicFramePr>
        <p:xfrm>
          <a:off x="-1" y="6629399"/>
          <a:ext cx="12192001" cy="314926"/>
        </p:xfrm>
        <a:graphic>
          <a:graphicData uri="http://schemas.openxmlformats.org/drawingml/2006/table">
            <a:tbl>
              <a:tblPr firstRow="1" bandRow="1">
                <a:tableStyleId>{5C22544A-7EE6-4342-B048-85BDC9FD1C3A}</a:tableStyleId>
              </a:tblPr>
              <a:tblGrid>
                <a:gridCol w="689634">
                  <a:extLst>
                    <a:ext uri="{9D8B030D-6E8A-4147-A177-3AD203B41FA5}">
                      <a16:colId xmlns:a16="http://schemas.microsoft.com/office/drawing/2014/main" xmlns="" val="2456744558"/>
                    </a:ext>
                  </a:extLst>
                </a:gridCol>
                <a:gridCol w="5406367">
                  <a:extLst>
                    <a:ext uri="{9D8B030D-6E8A-4147-A177-3AD203B41FA5}">
                      <a16:colId xmlns:a16="http://schemas.microsoft.com/office/drawing/2014/main" xmlns="" val="1228853089"/>
                    </a:ext>
                  </a:extLst>
                </a:gridCol>
                <a:gridCol w="5515889">
                  <a:extLst>
                    <a:ext uri="{9D8B030D-6E8A-4147-A177-3AD203B41FA5}">
                      <a16:colId xmlns:a16="http://schemas.microsoft.com/office/drawing/2014/main" xmlns="" val="2344483369"/>
                    </a:ext>
                  </a:extLst>
                </a:gridCol>
                <a:gridCol w="580111">
                  <a:extLst>
                    <a:ext uri="{9D8B030D-6E8A-4147-A177-3AD203B41FA5}">
                      <a16:colId xmlns:a16="http://schemas.microsoft.com/office/drawing/2014/main" xmlns="" val="402432539"/>
                    </a:ext>
                  </a:extLst>
                </a:gridCol>
              </a:tblGrid>
              <a:tr h="228600">
                <a:tc>
                  <a:txBody>
                    <a:bodyPr/>
                    <a:lstStyle/>
                    <a:p>
                      <a:r>
                        <a:rPr lang="en-US" sz="1600" dirty="0" smtClean="0">
                          <a:latin typeface="Times New Roman" panose="02020603050405020304" pitchFamily="18" charset="0"/>
                          <a:cs typeface="Times New Roman" panose="02020603050405020304" pitchFamily="18" charset="0"/>
                        </a:rPr>
                        <a:t>B-03</a:t>
                      </a:r>
                      <a:endParaRPr lang="en-IN" sz="1600" dirty="0">
                        <a:latin typeface="Times New Roman" panose="02020603050405020304" pitchFamily="18" charset="0"/>
                        <a:cs typeface="Times New Roman" panose="02020603050405020304" pitchFamily="18" charset="0"/>
                      </a:endParaRP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solidFill>
                  </a:tcPr>
                </a:tc>
                <a:tc>
                  <a:txBody>
                    <a:bodyPr/>
                    <a:lstStyle/>
                    <a:p>
                      <a:pPr algn="ctr"/>
                      <a:r>
                        <a:rPr lang="en-IN" sz="1600" dirty="0">
                          <a:latin typeface="Times New Roman" panose="02020603050405020304" pitchFamily="18" charset="0"/>
                          <a:cs typeface="Times New Roman" panose="02020603050405020304" pitchFamily="18" charset="0"/>
                        </a:rPr>
                        <a:t>Department of Computer Science and Engineering</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50000"/>
                      </a:schemeClr>
                    </a:solidFill>
                  </a:tcPr>
                </a:tc>
                <a:tc>
                  <a:txBody>
                    <a:bodyPr/>
                    <a:lstStyle/>
                    <a:p>
                      <a:pPr algn="ctr"/>
                      <a:r>
                        <a:rPr lang="en-IN" sz="1600" dirty="0">
                          <a:latin typeface="Times New Roman" panose="02020603050405020304" pitchFamily="18" charset="0"/>
                          <a:cs typeface="Times New Roman" panose="02020603050405020304" pitchFamily="18" charset="0"/>
                        </a:rPr>
                        <a:t>Srinivasa Ramanujan Institute of Technology</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8080"/>
                    </a:solidFill>
                  </a:tcPr>
                </a:tc>
                <a:tc>
                  <a:txBody>
                    <a:bodyPr/>
                    <a:lstStyle/>
                    <a:p>
                      <a:r>
                        <a:rPr lang="en-US" sz="1600" dirty="0" smtClean="0">
                          <a:solidFill>
                            <a:schemeClr val="tx1"/>
                          </a:solidFill>
                          <a:latin typeface="Times New Roman" panose="02020603050405020304" pitchFamily="18" charset="0"/>
                          <a:cs typeface="Times New Roman" panose="02020603050405020304" pitchFamily="18" charset="0"/>
                        </a:rPr>
                        <a:t>7</a:t>
                      </a:r>
                      <a:endParaRPr lang="en-IN" sz="1600" dirty="0">
                        <a:solidFill>
                          <a:schemeClr val="tx1"/>
                        </a:solidFill>
                        <a:latin typeface="Times New Roman" panose="02020603050405020304" pitchFamily="18" charset="0"/>
                        <a:cs typeface="Times New Roman" panose="02020603050405020304" pitchFamily="18" charset="0"/>
                      </a:endParaRP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xmlns="" val="455470646"/>
                  </a:ext>
                </a:extLst>
              </a:tr>
            </a:tbl>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PlaceHolder 1"/>
          <p:cNvSpPr>
            <a:spLocks noGrp="1"/>
          </p:cNvSpPr>
          <p:nvPr>
            <p:ph type="title" idx="4294967295"/>
          </p:nvPr>
        </p:nvSpPr>
        <p:spPr>
          <a:xfrm>
            <a:off x="0" y="232920"/>
            <a:ext cx="12191760" cy="714600"/>
          </a:xfrm>
          <a:prstGeom prst="rect">
            <a:avLst/>
          </a:prstGeom>
          <a:solidFill>
            <a:srgbClr val="FF6600"/>
          </a:solidFill>
          <a:ln w="0">
            <a:noFill/>
          </a:ln>
          <a:effectLst>
            <a:outerShdw blurRad="44280" dist="28080" dir="5400000" rotWithShape="0">
              <a:srgbClr val="000000">
                <a:alpha val="32000"/>
              </a:srgbClr>
            </a:outerShdw>
          </a:effectLst>
        </p:spPr>
        <p:txBody>
          <a:bodyPr lIns="90000" tIns="45000" rIns="90000" bIns="45000" anchor="t">
            <a:noAutofit/>
          </a:bodyPr>
          <a:lstStyle/>
          <a:p>
            <a:pPr algn="just">
              <a:lnSpc>
                <a:spcPct val="90000"/>
              </a:lnSpc>
              <a:spcBef>
                <a:spcPts val="1000"/>
              </a:spcBef>
            </a:pPr>
            <a:r>
              <a:rPr lang="en-US" sz="4400" b="0" strike="noStrike" spc="-1" dirty="0">
                <a:solidFill>
                  <a:schemeClr val="bg1"/>
                </a:solidFill>
                <a:latin typeface="Times New Roman" panose="02020603050405020304"/>
              </a:rPr>
              <a:t>Literature survey for objectives</a:t>
            </a:r>
            <a:endParaRPr lang="en-US" sz="4400" b="0" strike="noStrike" spc="-1" dirty="0">
              <a:solidFill>
                <a:schemeClr val="bg1"/>
              </a:solidFill>
              <a:latin typeface="Calibri" panose="020F0502020204030204"/>
            </a:endParaRPr>
          </a:p>
        </p:txBody>
      </p:sp>
      <p:sp>
        <p:nvSpPr>
          <p:cNvPr id="106" name="PlaceHolder 2"/>
          <p:cNvSpPr>
            <a:spLocks noGrp="1"/>
          </p:cNvSpPr>
          <p:nvPr>
            <p:ph idx="4294967295"/>
          </p:nvPr>
        </p:nvSpPr>
        <p:spPr>
          <a:xfrm>
            <a:off x="203448" y="1295400"/>
            <a:ext cx="11778840" cy="5394600"/>
          </a:xfrm>
          <a:prstGeom prst="rect">
            <a:avLst/>
          </a:prstGeom>
          <a:noFill/>
          <a:ln w="0">
            <a:noFill/>
          </a:ln>
        </p:spPr>
        <p:txBody>
          <a:bodyPr anchor="t">
            <a:normAutofit/>
          </a:bodyPr>
          <a:lstStyle/>
          <a:p>
            <a:pPr marL="342900" indent="-342900" algn="l">
              <a:buFont typeface="Wingdings" pitchFamily="2" charset="2"/>
              <a:buChar char="Ø"/>
            </a:pPr>
            <a:r>
              <a:rPr lang="en-US" sz="2400" b="1" dirty="0" smtClean="0"/>
              <a:t>Neural </a:t>
            </a:r>
            <a:r>
              <a:rPr lang="en-US" sz="2400" b="1" dirty="0"/>
              <a:t>network models for rice seed identification	</a:t>
            </a:r>
            <a:r>
              <a:rPr lang="en-US" sz="2400" dirty="0"/>
              <a:t/>
            </a:r>
            <a:br>
              <a:rPr lang="en-US" sz="2400" dirty="0"/>
            </a:br>
            <a:r>
              <a:rPr lang="en-US" sz="2400" dirty="0" err="1"/>
              <a:t>Khin</a:t>
            </a:r>
            <a:r>
              <a:rPr lang="en-US" sz="2400" dirty="0"/>
              <a:t> and Lee utilized diffusion convolutional neural networks to classify rice seed varieties, reinforcing the capability of deep learning architectures in detecting subtle visual differences</a:t>
            </a:r>
            <a:r>
              <a:rPr lang="en-US" sz="2400" dirty="0" smtClean="0"/>
              <a:t>.</a:t>
            </a:r>
          </a:p>
          <a:p>
            <a:pPr marL="342900" indent="-342900" algn="l">
              <a:buFont typeface="Wingdings" pitchFamily="2" charset="2"/>
              <a:buChar char="Ø"/>
            </a:pPr>
            <a:endParaRPr lang="en-US" sz="2400" dirty="0"/>
          </a:p>
          <a:p>
            <a:pPr marL="342900" indent="-342900" algn="l">
              <a:buFont typeface="Wingdings" pitchFamily="2" charset="2"/>
              <a:buChar char="Ø"/>
            </a:pPr>
            <a:r>
              <a:rPr lang="en-US" sz="2400" b="1" dirty="0"/>
              <a:t>Hybrid CNN approaches for rice image classification	</a:t>
            </a:r>
            <a:r>
              <a:rPr lang="en-US" sz="2400" dirty="0"/>
              <a:t/>
            </a:r>
            <a:br>
              <a:rPr lang="en-US" sz="2400" dirty="0"/>
            </a:br>
            <a:r>
              <a:rPr lang="en-US" sz="2400" dirty="0" err="1"/>
              <a:t>Verma</a:t>
            </a:r>
            <a:r>
              <a:rPr lang="en-US" sz="2400" dirty="0"/>
              <a:t> et al. proposed hybrid convolutional neural network models for accurate rice image classification, supporting the use of deep learning for grain-level recognition tasks.</a:t>
            </a:r>
          </a:p>
          <a:p>
            <a:pPr algn="just">
              <a:lnSpc>
                <a:spcPct val="90000"/>
              </a:lnSpc>
              <a:spcBef>
                <a:spcPts val="1000"/>
              </a:spcBef>
              <a:buClr>
                <a:srgbClr val="000000"/>
              </a:buClr>
            </a:pPr>
            <a:r>
              <a:rPr lang="en-US" sz="2400" b="0" strike="noStrike" spc="-1" dirty="0">
                <a:solidFill>
                  <a:srgbClr val="000000"/>
                </a:solidFill>
                <a:latin typeface="Times New Roman" panose="02020603050405020304"/>
              </a:rPr>
              <a:t>                                                                                                                                                                           </a:t>
            </a:r>
          </a:p>
        </p:txBody>
      </p:sp>
      <p:sp>
        <p:nvSpPr>
          <p:cNvPr id="4" name="Rectangle 3">
            <a:extLst>
              <a:ext uri="{FF2B5EF4-FFF2-40B4-BE49-F238E27FC236}">
                <a16:creationId xmlns:a16="http://schemas.microsoft.com/office/drawing/2014/main" xmlns="" id="{67980CE8-0DF4-ADFB-351E-3165106C569D}"/>
              </a:ext>
            </a:extLst>
          </p:cNvPr>
          <p:cNvSpPr/>
          <p:nvPr/>
        </p:nvSpPr>
        <p:spPr>
          <a:xfrm>
            <a:off x="-3132" y="0"/>
            <a:ext cx="12192000" cy="288000"/>
          </a:xfrm>
          <a:prstGeom prst="rect">
            <a:avLst/>
          </a:prstGeom>
          <a:solidFill>
            <a:srgbClr val="0080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Times New Roman" panose="02020603050405020304" pitchFamily="18" charset="0"/>
              <a:cs typeface="Times New Roman" panose="02020603050405020304" pitchFamily="18" charset="0"/>
            </a:endParaRPr>
          </a:p>
          <a:p>
            <a:pPr algn="ctr"/>
            <a:r>
              <a:rPr lang="en-US" dirty="0" smtClean="0">
                <a:latin typeface="Times New Roman" panose="02020603050405020304" pitchFamily="18" charset="0"/>
                <a:cs typeface="Times New Roman" panose="02020603050405020304" pitchFamily="18" charset="0"/>
              </a:rPr>
              <a:t>An </a:t>
            </a:r>
            <a:r>
              <a:rPr lang="en-US" dirty="0">
                <a:latin typeface="Times New Roman" panose="02020603050405020304" pitchFamily="18" charset="0"/>
                <a:cs typeface="Times New Roman" panose="02020603050405020304" pitchFamily="18" charset="0"/>
              </a:rPr>
              <a:t>Intelligent Framework for </a:t>
            </a:r>
            <a:r>
              <a:rPr lang="en-US" dirty="0" err="1">
                <a:latin typeface="Times New Roman" panose="02020603050405020304" pitchFamily="18" charset="0"/>
                <a:cs typeface="Times New Roman" panose="02020603050405020304" pitchFamily="18" charset="0"/>
              </a:rPr>
              <a:t>Identifing</a:t>
            </a:r>
            <a:r>
              <a:rPr lang="en-US" dirty="0">
                <a:latin typeface="Times New Roman" panose="02020603050405020304" pitchFamily="18" charset="0"/>
                <a:cs typeface="Times New Roman" panose="02020603050405020304" pitchFamily="18" charset="0"/>
              </a:rPr>
              <a:t> the Cooking State of Rice</a:t>
            </a:r>
            <a:endParaRPr lang="en-IN" dirty="0">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xmlns="" id="{40F8C159-E10E-1263-C3EF-28CF1B6055A5}"/>
              </a:ext>
            </a:extLst>
          </p:cNvPr>
          <p:cNvGraphicFramePr>
            <a:graphicFrameLocks noGrp="1"/>
          </p:cNvGraphicFramePr>
          <p:nvPr>
            <p:extLst>
              <p:ext uri="{D42A27DB-BD31-4B8C-83A1-F6EECF244321}">
                <p14:modId xmlns:p14="http://schemas.microsoft.com/office/powerpoint/2010/main" val="4146932019"/>
              </p:ext>
            </p:extLst>
          </p:nvPr>
        </p:nvGraphicFramePr>
        <p:xfrm>
          <a:off x="-1" y="6629400"/>
          <a:ext cx="12192001" cy="314926"/>
        </p:xfrm>
        <a:graphic>
          <a:graphicData uri="http://schemas.openxmlformats.org/drawingml/2006/table">
            <a:tbl>
              <a:tblPr firstRow="1" bandRow="1">
                <a:tableStyleId>{5C22544A-7EE6-4342-B048-85BDC9FD1C3A}</a:tableStyleId>
              </a:tblPr>
              <a:tblGrid>
                <a:gridCol w="689634">
                  <a:extLst>
                    <a:ext uri="{9D8B030D-6E8A-4147-A177-3AD203B41FA5}">
                      <a16:colId xmlns:a16="http://schemas.microsoft.com/office/drawing/2014/main" xmlns="" val="2456744558"/>
                    </a:ext>
                  </a:extLst>
                </a:gridCol>
                <a:gridCol w="5406367">
                  <a:extLst>
                    <a:ext uri="{9D8B030D-6E8A-4147-A177-3AD203B41FA5}">
                      <a16:colId xmlns:a16="http://schemas.microsoft.com/office/drawing/2014/main" xmlns="" val="1228853089"/>
                    </a:ext>
                  </a:extLst>
                </a:gridCol>
                <a:gridCol w="5515889">
                  <a:extLst>
                    <a:ext uri="{9D8B030D-6E8A-4147-A177-3AD203B41FA5}">
                      <a16:colId xmlns:a16="http://schemas.microsoft.com/office/drawing/2014/main" xmlns="" val="2344483369"/>
                    </a:ext>
                  </a:extLst>
                </a:gridCol>
                <a:gridCol w="580111">
                  <a:extLst>
                    <a:ext uri="{9D8B030D-6E8A-4147-A177-3AD203B41FA5}">
                      <a16:colId xmlns:a16="http://schemas.microsoft.com/office/drawing/2014/main" xmlns="" val="402432539"/>
                    </a:ext>
                  </a:extLst>
                </a:gridCol>
              </a:tblGrid>
              <a:tr h="228600">
                <a:tc>
                  <a:txBody>
                    <a:bodyPr/>
                    <a:lstStyle/>
                    <a:p>
                      <a:r>
                        <a:rPr lang="en-US" sz="1600" dirty="0" smtClean="0">
                          <a:latin typeface="Times New Roman" panose="02020603050405020304" pitchFamily="18" charset="0"/>
                          <a:cs typeface="Times New Roman" panose="02020603050405020304" pitchFamily="18" charset="0"/>
                        </a:rPr>
                        <a:t>B-03</a:t>
                      </a:r>
                      <a:endParaRPr lang="en-IN" sz="1600" dirty="0">
                        <a:latin typeface="Times New Roman" panose="02020603050405020304" pitchFamily="18" charset="0"/>
                        <a:cs typeface="Times New Roman" panose="02020603050405020304" pitchFamily="18" charset="0"/>
                      </a:endParaRP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solidFill>
                  </a:tcPr>
                </a:tc>
                <a:tc>
                  <a:txBody>
                    <a:bodyPr/>
                    <a:lstStyle/>
                    <a:p>
                      <a:pPr algn="ctr"/>
                      <a:r>
                        <a:rPr lang="en-IN" sz="1600" dirty="0">
                          <a:latin typeface="Times New Roman" panose="02020603050405020304" pitchFamily="18" charset="0"/>
                          <a:cs typeface="Times New Roman" panose="02020603050405020304" pitchFamily="18" charset="0"/>
                        </a:rPr>
                        <a:t>Department of Computer Science and Engineering</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50000"/>
                      </a:schemeClr>
                    </a:solidFill>
                  </a:tcPr>
                </a:tc>
                <a:tc>
                  <a:txBody>
                    <a:bodyPr/>
                    <a:lstStyle/>
                    <a:p>
                      <a:pPr algn="ctr"/>
                      <a:r>
                        <a:rPr lang="en-IN" sz="1600" dirty="0">
                          <a:latin typeface="Times New Roman" panose="02020603050405020304" pitchFamily="18" charset="0"/>
                          <a:cs typeface="Times New Roman" panose="02020603050405020304" pitchFamily="18" charset="0"/>
                        </a:rPr>
                        <a:t>Srinivasa Ramanujan Institute of Technology</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8080"/>
                    </a:solidFill>
                  </a:tcPr>
                </a:tc>
                <a:tc>
                  <a:txBody>
                    <a:bodyPr/>
                    <a:lstStyle/>
                    <a:p>
                      <a:r>
                        <a:rPr lang="en-US" sz="1600" dirty="0" smtClean="0">
                          <a:solidFill>
                            <a:schemeClr val="tx1"/>
                          </a:solidFill>
                          <a:latin typeface="Times New Roman" panose="02020603050405020304" pitchFamily="18" charset="0"/>
                          <a:cs typeface="Times New Roman" panose="02020603050405020304" pitchFamily="18" charset="0"/>
                        </a:rPr>
                        <a:t>8</a:t>
                      </a:r>
                      <a:endParaRPr lang="en-IN" sz="1600" dirty="0">
                        <a:solidFill>
                          <a:schemeClr val="tx1"/>
                        </a:solidFill>
                        <a:latin typeface="Times New Roman" panose="02020603050405020304" pitchFamily="18" charset="0"/>
                        <a:cs typeface="Times New Roman" panose="02020603050405020304" pitchFamily="18" charset="0"/>
                      </a:endParaRP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xmlns="" val="455470646"/>
                  </a:ext>
                </a:extLst>
              </a:tr>
            </a:tbl>
          </a:graphicData>
        </a:graphic>
      </p:graphicFrame>
    </p:spTree>
    <p:extLst>
      <p:ext uri="{BB962C8B-B14F-4D97-AF65-F5344CB8AC3E}">
        <p14:creationId xmlns:p14="http://schemas.microsoft.com/office/powerpoint/2010/main" val="224116058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PlaceHolder 1"/>
          <p:cNvSpPr>
            <a:spLocks noGrp="1"/>
          </p:cNvSpPr>
          <p:nvPr>
            <p:ph/>
          </p:nvPr>
        </p:nvSpPr>
        <p:spPr>
          <a:xfrm>
            <a:off x="152400" y="1295400"/>
            <a:ext cx="11288520" cy="4940400"/>
          </a:xfrm>
          <a:prstGeom prst="rect">
            <a:avLst/>
          </a:prstGeom>
          <a:solidFill>
            <a:srgbClr val="FFFFFF"/>
          </a:solidFill>
          <a:ln w="12600">
            <a:solidFill>
              <a:srgbClr val="FFFFFF"/>
            </a:solidFill>
            <a:miter/>
          </a:ln>
        </p:spPr>
        <p:txBody>
          <a:bodyPr anchor="t">
            <a:normAutofit fontScale="77500" lnSpcReduction="20000"/>
          </a:bodyPr>
          <a:lstStyle/>
          <a:p>
            <a:pPr algn="just"/>
            <a:r>
              <a:rPr lang="en-US" sz="2800" dirty="0"/>
              <a:t>To overcome the limitations of manual inspection in determining rice cooking stages, the proposed system automates the classification process using deep learning and image analysis. The system captures RGB images of rice at various stages and applies preprocessing techniques to enhance visual clarity. A transfer learning model, such as MobileNetV2 or ResNet50, is fine-tuned on </a:t>
            </a:r>
            <a:r>
              <a:rPr lang="en-US" sz="2800" dirty="0" smtClean="0"/>
              <a:t>a dataset </a:t>
            </a:r>
            <a:r>
              <a:rPr lang="en-US" sz="2800" dirty="0"/>
              <a:t>to extract meaningful features and classify each image into Raw, Semi-Cooked, or Fully Cooked categories</a:t>
            </a:r>
            <a:r>
              <a:rPr lang="en-US" sz="2800" dirty="0" smtClean="0"/>
              <a:t>.</a:t>
            </a:r>
          </a:p>
          <a:p>
            <a:pPr algn="just"/>
            <a:endParaRPr lang="en-US" sz="2800" dirty="0"/>
          </a:p>
          <a:p>
            <a:pPr algn="just"/>
            <a:r>
              <a:rPr lang="en-US" sz="2800" dirty="0"/>
              <a:t>The workflow includes:</a:t>
            </a:r>
          </a:p>
          <a:p>
            <a:pPr marL="457200" indent="-457200" algn="just">
              <a:buFont typeface="Wingdings" pitchFamily="2" charset="2"/>
              <a:buChar char="q"/>
            </a:pPr>
            <a:r>
              <a:rPr lang="en-US" sz="2800" b="1" dirty="0"/>
              <a:t>Image Acquisition:</a:t>
            </a:r>
            <a:r>
              <a:rPr lang="en-US" sz="2800" dirty="0"/>
              <a:t> Collecting rice images under controlled lighting.</a:t>
            </a:r>
          </a:p>
          <a:p>
            <a:pPr marL="457200" indent="-457200" algn="just">
              <a:buFont typeface="Wingdings" pitchFamily="2" charset="2"/>
              <a:buChar char="q"/>
            </a:pPr>
            <a:r>
              <a:rPr lang="en-US" sz="2800" b="1" dirty="0"/>
              <a:t>Preprocessing:</a:t>
            </a:r>
            <a:r>
              <a:rPr lang="en-US" sz="2800" dirty="0"/>
              <a:t> Resizing, normalization, and augmentation to improve model robustness.</a:t>
            </a:r>
          </a:p>
          <a:p>
            <a:pPr marL="457200" indent="-457200" algn="just">
              <a:buFont typeface="Wingdings" pitchFamily="2" charset="2"/>
              <a:buChar char="q"/>
            </a:pPr>
            <a:r>
              <a:rPr lang="en-US" sz="2800" b="1" dirty="0"/>
              <a:t>Model Training:</a:t>
            </a:r>
            <a:r>
              <a:rPr lang="en-US" sz="2800" dirty="0"/>
              <a:t> Using a pre-trained CNN for feature extraction and fine-tuning.</a:t>
            </a:r>
          </a:p>
          <a:p>
            <a:pPr marL="457200" indent="-457200" algn="just">
              <a:buFont typeface="Wingdings" pitchFamily="2" charset="2"/>
              <a:buChar char="q"/>
            </a:pPr>
            <a:r>
              <a:rPr lang="en-US" sz="2800" b="1" dirty="0"/>
              <a:t>Classification:</a:t>
            </a:r>
            <a:r>
              <a:rPr lang="en-US" sz="2800" dirty="0"/>
              <a:t> Predicting the cooking </a:t>
            </a:r>
            <a:r>
              <a:rPr lang="en-US" sz="2800" dirty="0" smtClean="0"/>
              <a:t>stage of rice.</a:t>
            </a:r>
            <a:endParaRPr lang="en-US" sz="2800" dirty="0"/>
          </a:p>
          <a:p>
            <a:pPr marL="457200" indent="-457200" algn="just">
              <a:buFont typeface="Wingdings" pitchFamily="2" charset="2"/>
              <a:buChar char="q"/>
            </a:pPr>
            <a:r>
              <a:rPr lang="en-US" sz="2800" b="1" dirty="0"/>
              <a:t>Output Display:</a:t>
            </a:r>
            <a:r>
              <a:rPr lang="en-US" sz="2800" dirty="0"/>
              <a:t> Showing the result through a user interface for real-time decision making</a:t>
            </a:r>
            <a:r>
              <a:rPr lang="en-US" sz="2800" dirty="0" smtClean="0"/>
              <a:t>.</a:t>
            </a:r>
          </a:p>
          <a:p>
            <a:pPr marL="457200" indent="-457200" algn="just">
              <a:buFont typeface="Wingdings" pitchFamily="2" charset="2"/>
              <a:buChar char="q"/>
            </a:pPr>
            <a:endParaRPr lang="en-US" sz="2800" dirty="0"/>
          </a:p>
          <a:p>
            <a:pPr algn="just"/>
            <a:r>
              <a:rPr lang="en-US" sz="2800" dirty="0"/>
              <a:t>This proposed system ensures consistent cooking quality, reduces human error, and supports the development of smart cooking automation.</a:t>
            </a:r>
          </a:p>
        </p:txBody>
      </p:sp>
      <p:sp>
        <p:nvSpPr>
          <p:cNvPr id="110" name="PlaceHolder 2"/>
          <p:cNvSpPr>
            <a:spLocks noGrp="1"/>
          </p:cNvSpPr>
          <p:nvPr>
            <p:ph type="title"/>
          </p:nvPr>
        </p:nvSpPr>
        <p:spPr>
          <a:xfrm>
            <a:off x="0" y="232920"/>
            <a:ext cx="12191760" cy="714600"/>
          </a:xfrm>
          <a:prstGeom prst="rect">
            <a:avLst/>
          </a:prstGeom>
          <a:solidFill>
            <a:srgbClr val="FF6600"/>
          </a:solidFill>
          <a:ln w="0">
            <a:noFill/>
          </a:ln>
          <a:effectLst>
            <a:outerShdw blurRad="44280" dist="28080" dir="5400000" rotWithShape="0">
              <a:srgbClr val="000000">
                <a:alpha val="32000"/>
              </a:srgbClr>
            </a:outerShdw>
          </a:effectLst>
        </p:spPr>
        <p:txBody>
          <a:bodyPr lIns="90000" tIns="45000" rIns="90000" bIns="45000" anchor="t">
            <a:noAutofit/>
          </a:bodyPr>
          <a:lstStyle/>
          <a:p>
            <a:pPr>
              <a:lnSpc>
                <a:spcPct val="90000"/>
              </a:lnSpc>
            </a:pPr>
            <a:r>
              <a:rPr lang="en-US" sz="4400" b="0" strike="noStrike" spc="-1" dirty="0">
                <a:solidFill>
                  <a:srgbClr val="FFFFFF"/>
                </a:solidFill>
                <a:latin typeface="Times New Roman" panose="02020603050405020304"/>
              </a:rPr>
              <a:t>Proposed System</a:t>
            </a:r>
            <a:endParaRPr lang="en-US" sz="4400" b="0" strike="noStrike" spc="-1" dirty="0">
              <a:solidFill>
                <a:srgbClr val="000000"/>
              </a:solidFill>
              <a:latin typeface="Calibri" panose="020F0502020204030204"/>
            </a:endParaRPr>
          </a:p>
        </p:txBody>
      </p:sp>
      <p:sp>
        <p:nvSpPr>
          <p:cNvPr id="4" name="Rectangle 3">
            <a:extLst>
              <a:ext uri="{FF2B5EF4-FFF2-40B4-BE49-F238E27FC236}">
                <a16:creationId xmlns:a16="http://schemas.microsoft.com/office/drawing/2014/main" xmlns="" id="{67980CE8-0DF4-ADFB-351E-3165106C569D}"/>
              </a:ext>
            </a:extLst>
          </p:cNvPr>
          <p:cNvSpPr/>
          <p:nvPr/>
        </p:nvSpPr>
        <p:spPr>
          <a:xfrm>
            <a:off x="0" y="0"/>
            <a:ext cx="12192000" cy="288000"/>
          </a:xfrm>
          <a:prstGeom prst="rect">
            <a:avLst/>
          </a:prstGeom>
          <a:solidFill>
            <a:srgbClr val="0080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Times New Roman" panose="02020603050405020304" pitchFamily="18" charset="0"/>
              <a:cs typeface="Times New Roman" panose="02020603050405020304" pitchFamily="18" charset="0"/>
            </a:endParaRPr>
          </a:p>
          <a:p>
            <a:pPr algn="ctr"/>
            <a:r>
              <a:rPr lang="en-US" dirty="0" smtClean="0">
                <a:latin typeface="Times New Roman" panose="02020603050405020304" pitchFamily="18" charset="0"/>
                <a:cs typeface="Times New Roman" panose="02020603050405020304" pitchFamily="18" charset="0"/>
              </a:rPr>
              <a:t>An </a:t>
            </a:r>
            <a:r>
              <a:rPr lang="en-US" dirty="0">
                <a:latin typeface="Times New Roman" panose="02020603050405020304" pitchFamily="18" charset="0"/>
                <a:cs typeface="Times New Roman" panose="02020603050405020304" pitchFamily="18" charset="0"/>
              </a:rPr>
              <a:t>Intelligent Framework for </a:t>
            </a:r>
            <a:r>
              <a:rPr lang="en-US" dirty="0" err="1">
                <a:latin typeface="Times New Roman" panose="02020603050405020304" pitchFamily="18" charset="0"/>
                <a:cs typeface="Times New Roman" panose="02020603050405020304" pitchFamily="18" charset="0"/>
              </a:rPr>
              <a:t>Identifing</a:t>
            </a:r>
            <a:r>
              <a:rPr lang="en-US" dirty="0">
                <a:latin typeface="Times New Roman" panose="02020603050405020304" pitchFamily="18" charset="0"/>
                <a:cs typeface="Times New Roman" panose="02020603050405020304" pitchFamily="18" charset="0"/>
              </a:rPr>
              <a:t> the Cooking State of Rice</a:t>
            </a:r>
            <a:endParaRPr lang="en-IN" dirty="0">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xmlns="" id="{40F8C159-E10E-1263-C3EF-28CF1B6055A5}"/>
              </a:ext>
            </a:extLst>
          </p:cNvPr>
          <p:cNvGraphicFramePr>
            <a:graphicFrameLocks noGrp="1"/>
          </p:cNvGraphicFramePr>
          <p:nvPr>
            <p:extLst>
              <p:ext uri="{D42A27DB-BD31-4B8C-83A1-F6EECF244321}">
                <p14:modId xmlns:p14="http://schemas.microsoft.com/office/powerpoint/2010/main" val="3753194636"/>
              </p:ext>
            </p:extLst>
          </p:nvPr>
        </p:nvGraphicFramePr>
        <p:xfrm>
          <a:off x="-1" y="6629400"/>
          <a:ext cx="12192001" cy="314926"/>
        </p:xfrm>
        <a:graphic>
          <a:graphicData uri="http://schemas.openxmlformats.org/drawingml/2006/table">
            <a:tbl>
              <a:tblPr firstRow="1" bandRow="1">
                <a:tableStyleId>{5C22544A-7EE6-4342-B048-85BDC9FD1C3A}</a:tableStyleId>
              </a:tblPr>
              <a:tblGrid>
                <a:gridCol w="689634">
                  <a:extLst>
                    <a:ext uri="{9D8B030D-6E8A-4147-A177-3AD203B41FA5}">
                      <a16:colId xmlns:a16="http://schemas.microsoft.com/office/drawing/2014/main" xmlns="" val="2456744558"/>
                    </a:ext>
                  </a:extLst>
                </a:gridCol>
                <a:gridCol w="5406367">
                  <a:extLst>
                    <a:ext uri="{9D8B030D-6E8A-4147-A177-3AD203B41FA5}">
                      <a16:colId xmlns:a16="http://schemas.microsoft.com/office/drawing/2014/main" xmlns="" val="1228853089"/>
                    </a:ext>
                  </a:extLst>
                </a:gridCol>
                <a:gridCol w="5515889">
                  <a:extLst>
                    <a:ext uri="{9D8B030D-6E8A-4147-A177-3AD203B41FA5}">
                      <a16:colId xmlns:a16="http://schemas.microsoft.com/office/drawing/2014/main" xmlns="" val="2344483369"/>
                    </a:ext>
                  </a:extLst>
                </a:gridCol>
                <a:gridCol w="580111">
                  <a:extLst>
                    <a:ext uri="{9D8B030D-6E8A-4147-A177-3AD203B41FA5}">
                      <a16:colId xmlns:a16="http://schemas.microsoft.com/office/drawing/2014/main" xmlns="" val="402432539"/>
                    </a:ext>
                  </a:extLst>
                </a:gridCol>
              </a:tblGrid>
              <a:tr h="228600">
                <a:tc>
                  <a:txBody>
                    <a:bodyPr/>
                    <a:lstStyle/>
                    <a:p>
                      <a:r>
                        <a:rPr lang="en-US" sz="1600" dirty="0" smtClean="0">
                          <a:latin typeface="Times New Roman" panose="02020603050405020304" pitchFamily="18" charset="0"/>
                          <a:cs typeface="Times New Roman" panose="02020603050405020304" pitchFamily="18" charset="0"/>
                        </a:rPr>
                        <a:t>B-03</a:t>
                      </a:r>
                      <a:endParaRPr lang="en-IN" sz="1600" dirty="0">
                        <a:latin typeface="Times New Roman" panose="02020603050405020304" pitchFamily="18" charset="0"/>
                        <a:cs typeface="Times New Roman" panose="02020603050405020304" pitchFamily="18" charset="0"/>
                      </a:endParaRP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solidFill>
                  </a:tcPr>
                </a:tc>
                <a:tc>
                  <a:txBody>
                    <a:bodyPr/>
                    <a:lstStyle/>
                    <a:p>
                      <a:pPr algn="ctr"/>
                      <a:r>
                        <a:rPr lang="en-IN" sz="1600" dirty="0">
                          <a:latin typeface="Times New Roman" panose="02020603050405020304" pitchFamily="18" charset="0"/>
                          <a:cs typeface="Times New Roman" panose="02020603050405020304" pitchFamily="18" charset="0"/>
                        </a:rPr>
                        <a:t>Department of Computer Science and Engineering</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50000"/>
                      </a:schemeClr>
                    </a:solidFill>
                  </a:tcPr>
                </a:tc>
                <a:tc>
                  <a:txBody>
                    <a:bodyPr/>
                    <a:lstStyle/>
                    <a:p>
                      <a:pPr algn="ctr"/>
                      <a:r>
                        <a:rPr lang="en-IN" sz="1600" dirty="0">
                          <a:latin typeface="Times New Roman" panose="02020603050405020304" pitchFamily="18" charset="0"/>
                          <a:cs typeface="Times New Roman" panose="02020603050405020304" pitchFamily="18" charset="0"/>
                        </a:rPr>
                        <a:t>Srinivasa Ramanujan Institute of Technology</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8080"/>
                    </a:solidFill>
                  </a:tcPr>
                </a:tc>
                <a:tc>
                  <a:txBody>
                    <a:bodyPr/>
                    <a:lstStyle/>
                    <a:p>
                      <a:r>
                        <a:rPr lang="en-US" sz="1600" dirty="0" smtClean="0">
                          <a:solidFill>
                            <a:schemeClr val="tx1"/>
                          </a:solidFill>
                          <a:latin typeface="Times New Roman" panose="02020603050405020304" pitchFamily="18" charset="0"/>
                          <a:cs typeface="Times New Roman" panose="02020603050405020304" pitchFamily="18" charset="0"/>
                        </a:rPr>
                        <a:t>9</a:t>
                      </a:r>
                      <a:endParaRPr lang="en-IN" sz="1600" dirty="0">
                        <a:solidFill>
                          <a:schemeClr val="tx1"/>
                        </a:solidFill>
                        <a:latin typeface="Times New Roman" panose="02020603050405020304" pitchFamily="18" charset="0"/>
                        <a:cs typeface="Times New Roman" panose="02020603050405020304" pitchFamily="18" charset="0"/>
                      </a:endParaRP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xmlns="" val="455470646"/>
                  </a:ext>
                </a:extLst>
              </a:tr>
            </a:tbl>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PlaceHolder 1"/>
          <p:cNvSpPr>
            <a:spLocks noGrp="1"/>
          </p:cNvSpPr>
          <p:nvPr>
            <p:ph type="title"/>
          </p:nvPr>
        </p:nvSpPr>
        <p:spPr>
          <a:xfrm>
            <a:off x="0" y="232920"/>
            <a:ext cx="12191760" cy="714600"/>
          </a:xfrm>
          <a:prstGeom prst="rect">
            <a:avLst/>
          </a:prstGeom>
          <a:solidFill>
            <a:srgbClr val="FF6600"/>
          </a:solidFill>
          <a:ln w="0">
            <a:noFill/>
          </a:ln>
          <a:effectLst>
            <a:outerShdw blurRad="44280" dist="28080" dir="5400000" rotWithShape="0">
              <a:srgbClr val="000000">
                <a:alpha val="32000"/>
              </a:srgbClr>
            </a:outerShdw>
          </a:effectLst>
        </p:spPr>
        <p:txBody>
          <a:bodyPr lIns="90000" tIns="45000" rIns="90000" bIns="45000" anchor="t">
            <a:noAutofit/>
          </a:bodyPr>
          <a:lstStyle/>
          <a:p>
            <a:pPr>
              <a:lnSpc>
                <a:spcPct val="90000"/>
              </a:lnSpc>
            </a:pPr>
            <a:r>
              <a:rPr lang="en-IN" sz="4400" b="0" strike="noStrike" spc="-1" dirty="0">
                <a:solidFill>
                  <a:srgbClr val="FFFFFF"/>
                </a:solidFill>
                <a:latin typeface="Times New Roman" panose="02020603050405020304"/>
              </a:rPr>
              <a:t> Reference</a:t>
            </a:r>
            <a:r>
              <a:rPr lang="en-US" sz="4400" b="0" strike="noStrike" spc="-1" dirty="0">
                <a:solidFill>
                  <a:srgbClr val="FFFFFF"/>
                </a:solidFill>
                <a:latin typeface="Times New Roman" panose="02020603050405020304"/>
              </a:rPr>
              <a:t>s</a:t>
            </a:r>
            <a:endParaRPr lang="en-US" sz="4400" b="0" strike="noStrike" spc="-1" dirty="0">
              <a:solidFill>
                <a:srgbClr val="000000"/>
              </a:solidFill>
              <a:latin typeface="Calibri" panose="020F0502020204030204"/>
            </a:endParaRPr>
          </a:p>
        </p:txBody>
      </p:sp>
      <p:sp>
        <p:nvSpPr>
          <p:cNvPr id="112" name="PlaceHolder 2"/>
          <p:cNvSpPr>
            <a:spLocks noGrp="1"/>
          </p:cNvSpPr>
          <p:nvPr>
            <p:ph/>
          </p:nvPr>
        </p:nvSpPr>
        <p:spPr>
          <a:xfrm>
            <a:off x="152400" y="1219200"/>
            <a:ext cx="11825880" cy="5272680"/>
          </a:xfrm>
          <a:prstGeom prst="rect">
            <a:avLst/>
          </a:prstGeom>
          <a:noFill/>
          <a:ln w="0">
            <a:noFill/>
          </a:ln>
        </p:spPr>
        <p:txBody>
          <a:bodyPr anchor="t">
            <a:noAutofit/>
          </a:bodyPr>
          <a:lstStyle/>
          <a:p>
            <a:pPr algn="just"/>
            <a:r>
              <a:rPr lang="en-US" sz="2000" dirty="0" smtClean="0"/>
              <a:t>[1] </a:t>
            </a:r>
            <a:r>
              <a:rPr lang="en-US" sz="2000" dirty="0"/>
              <a:t>P. </a:t>
            </a:r>
            <a:r>
              <a:rPr lang="en-US" sz="2000" dirty="0" err="1" smtClean="0"/>
              <a:t>Zapotoczny</a:t>
            </a:r>
            <a:r>
              <a:rPr lang="en-US" sz="2000" dirty="0" smtClean="0"/>
              <a:t> </a:t>
            </a:r>
            <a:r>
              <a:rPr lang="en-US" sz="2000" dirty="0"/>
              <a:t>and P. K. </a:t>
            </a:r>
            <a:r>
              <a:rPr lang="en-US" sz="2000" dirty="0" err="1" smtClean="0"/>
              <a:t>Graczyk</a:t>
            </a:r>
            <a:r>
              <a:rPr lang="en-US" sz="2000" dirty="0"/>
              <a:t>, “Using deep learning algorithms and a flatbed scanner to assess rice quality,” </a:t>
            </a:r>
            <a:r>
              <a:rPr lang="en-US" sz="2000" i="1" dirty="0"/>
              <a:t>Technical Sciences</a:t>
            </a:r>
            <a:r>
              <a:rPr lang="en-US" sz="2000" dirty="0"/>
              <a:t>, vol. 25, no. 1, pp. 1–10, 2025</a:t>
            </a:r>
            <a:r>
              <a:rPr lang="en-US" sz="2000" dirty="0" smtClean="0"/>
              <a:t>.</a:t>
            </a:r>
          </a:p>
          <a:p>
            <a:pPr algn="just"/>
            <a:endParaRPr lang="en-US" sz="2000" dirty="0"/>
          </a:p>
          <a:p>
            <a:pPr algn="just"/>
            <a:r>
              <a:rPr lang="en-US" sz="2000" dirty="0" smtClean="0"/>
              <a:t>[2] </a:t>
            </a:r>
            <a:r>
              <a:rPr lang="en-US" sz="2000" dirty="0"/>
              <a:t>K. Cheng, R. Dong, F. Pan, W. Su, L. Xi, M. Zhang, et al., “Characterization and feature selection of volatile metabolites in </a:t>
            </a:r>
            <a:r>
              <a:rPr lang="en-US" sz="2000" dirty="0" err="1"/>
              <a:t>Yangxian</a:t>
            </a:r>
            <a:r>
              <a:rPr lang="en-US" sz="2000" dirty="0"/>
              <a:t> pigmented rice varieties through GC-MS and machine learning algorithms,” </a:t>
            </a:r>
            <a:r>
              <a:rPr lang="en-US" sz="2000" i="1" dirty="0"/>
              <a:t>Frontiers in Nutrition</a:t>
            </a:r>
            <a:r>
              <a:rPr lang="en-US" sz="2000" dirty="0"/>
              <a:t>, vol. 12, pp. 1–15, 2025</a:t>
            </a:r>
            <a:r>
              <a:rPr lang="en-US" sz="2000" dirty="0" smtClean="0"/>
              <a:t>.</a:t>
            </a:r>
          </a:p>
          <a:p>
            <a:pPr algn="just"/>
            <a:endParaRPr lang="en-US" sz="2000" dirty="0"/>
          </a:p>
          <a:p>
            <a:pPr algn="just"/>
            <a:r>
              <a:rPr lang="en-US" sz="2000" dirty="0" smtClean="0"/>
              <a:t>[3] O</a:t>
            </a:r>
            <a:r>
              <a:rPr lang="en-US" sz="2000" dirty="0"/>
              <a:t>. </a:t>
            </a:r>
            <a:r>
              <a:rPr lang="en-US" sz="2000" dirty="0" err="1"/>
              <a:t>Khin</a:t>
            </a:r>
            <a:r>
              <a:rPr lang="en-US" sz="2000" dirty="0"/>
              <a:t> and S. K. Lee, “Rice seed varieties classified using diffusion convolutional neural networks at various GPS locations,” </a:t>
            </a:r>
            <a:r>
              <a:rPr lang="en-US" sz="2000" i="1" dirty="0"/>
              <a:t>Sensors &amp; Materials</a:t>
            </a:r>
            <a:r>
              <a:rPr lang="en-US" sz="2000" dirty="0"/>
              <a:t>, vol. 37, pp. 1–9, 2025</a:t>
            </a:r>
            <a:r>
              <a:rPr lang="en-US" sz="2000" dirty="0" smtClean="0"/>
              <a:t>.</a:t>
            </a:r>
          </a:p>
          <a:p>
            <a:pPr algn="just"/>
            <a:endParaRPr lang="en-US" sz="2000" dirty="0"/>
          </a:p>
          <a:p>
            <a:pPr algn="just"/>
            <a:r>
              <a:rPr lang="en-US" sz="2000" dirty="0" smtClean="0"/>
              <a:t>[4] D</a:t>
            </a:r>
            <a:r>
              <a:rPr lang="en-US" sz="2000" dirty="0"/>
              <a:t>. S. </a:t>
            </a:r>
            <a:r>
              <a:rPr lang="en-US" sz="2000" dirty="0" err="1"/>
              <a:t>Verma</a:t>
            </a:r>
            <a:r>
              <a:rPr lang="en-US" sz="2000" dirty="0"/>
              <a:t>, M. </a:t>
            </a:r>
            <a:r>
              <a:rPr lang="en-US" sz="2000" dirty="0" err="1"/>
              <a:t>Dafadar</a:t>
            </a:r>
            <a:r>
              <a:rPr lang="en-US" sz="2000" dirty="0"/>
              <a:t>, J. K. Mishra, A. Kumar, and S. </a:t>
            </a:r>
            <a:r>
              <a:rPr lang="en-US" sz="2000" dirty="0" err="1"/>
              <a:t>Mahato</a:t>
            </a:r>
            <a:r>
              <a:rPr lang="en-US" sz="2000" dirty="0"/>
              <a:t>, “AI-Enable Rice Image Classification Using Hybrid Convolutional Neural Network Models,” </a:t>
            </a:r>
            <a:r>
              <a:rPr lang="en-US" sz="2000" i="1" dirty="0"/>
              <a:t>International Journal of Intelligent Systems</a:t>
            </a:r>
            <a:r>
              <a:rPr lang="en-US" sz="2000" dirty="0"/>
              <a:t>, vol. 2025, no. 1, pp. 1–14, 2025.</a:t>
            </a:r>
          </a:p>
        </p:txBody>
      </p:sp>
      <p:sp>
        <p:nvSpPr>
          <p:cNvPr id="4" name="Rectangle 3">
            <a:extLst>
              <a:ext uri="{FF2B5EF4-FFF2-40B4-BE49-F238E27FC236}">
                <a16:creationId xmlns:a16="http://schemas.microsoft.com/office/drawing/2014/main" xmlns="" id="{67980CE8-0DF4-ADFB-351E-3165106C569D}"/>
              </a:ext>
            </a:extLst>
          </p:cNvPr>
          <p:cNvSpPr/>
          <p:nvPr/>
        </p:nvSpPr>
        <p:spPr>
          <a:xfrm>
            <a:off x="0" y="16800"/>
            <a:ext cx="12192000" cy="288000"/>
          </a:xfrm>
          <a:prstGeom prst="rect">
            <a:avLst/>
          </a:prstGeom>
          <a:solidFill>
            <a:srgbClr val="0080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Times New Roman" panose="02020603050405020304" pitchFamily="18" charset="0"/>
              <a:cs typeface="Times New Roman" panose="02020603050405020304" pitchFamily="18" charset="0"/>
            </a:endParaRPr>
          </a:p>
          <a:p>
            <a:pPr algn="ctr"/>
            <a:r>
              <a:rPr lang="en-US" dirty="0" smtClean="0">
                <a:latin typeface="Times New Roman" panose="02020603050405020304" pitchFamily="18" charset="0"/>
                <a:cs typeface="Times New Roman" panose="02020603050405020304" pitchFamily="18" charset="0"/>
              </a:rPr>
              <a:t>An </a:t>
            </a:r>
            <a:r>
              <a:rPr lang="en-US" dirty="0">
                <a:latin typeface="Times New Roman" panose="02020603050405020304" pitchFamily="18" charset="0"/>
                <a:cs typeface="Times New Roman" panose="02020603050405020304" pitchFamily="18" charset="0"/>
              </a:rPr>
              <a:t>Intelligent Framework for </a:t>
            </a:r>
            <a:r>
              <a:rPr lang="en-US" dirty="0" err="1">
                <a:latin typeface="Times New Roman" panose="02020603050405020304" pitchFamily="18" charset="0"/>
                <a:cs typeface="Times New Roman" panose="02020603050405020304" pitchFamily="18" charset="0"/>
              </a:rPr>
              <a:t>Identifing</a:t>
            </a:r>
            <a:r>
              <a:rPr lang="en-US" dirty="0">
                <a:latin typeface="Times New Roman" panose="02020603050405020304" pitchFamily="18" charset="0"/>
                <a:cs typeface="Times New Roman" panose="02020603050405020304" pitchFamily="18" charset="0"/>
              </a:rPr>
              <a:t> the Cooking State of Rice</a:t>
            </a:r>
            <a:endParaRPr lang="en-IN" dirty="0">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xmlns="" id="{40F8C159-E10E-1263-C3EF-28CF1B6055A5}"/>
              </a:ext>
            </a:extLst>
          </p:cNvPr>
          <p:cNvGraphicFramePr>
            <a:graphicFrameLocks noGrp="1"/>
          </p:cNvGraphicFramePr>
          <p:nvPr>
            <p:extLst>
              <p:ext uri="{D42A27DB-BD31-4B8C-83A1-F6EECF244321}">
                <p14:modId xmlns:p14="http://schemas.microsoft.com/office/powerpoint/2010/main" val="2263778141"/>
              </p:ext>
            </p:extLst>
          </p:nvPr>
        </p:nvGraphicFramePr>
        <p:xfrm>
          <a:off x="-1" y="6629400"/>
          <a:ext cx="12192001" cy="314926"/>
        </p:xfrm>
        <a:graphic>
          <a:graphicData uri="http://schemas.openxmlformats.org/drawingml/2006/table">
            <a:tbl>
              <a:tblPr firstRow="1" bandRow="1">
                <a:tableStyleId>{5C22544A-7EE6-4342-B048-85BDC9FD1C3A}</a:tableStyleId>
              </a:tblPr>
              <a:tblGrid>
                <a:gridCol w="689634">
                  <a:extLst>
                    <a:ext uri="{9D8B030D-6E8A-4147-A177-3AD203B41FA5}">
                      <a16:colId xmlns:a16="http://schemas.microsoft.com/office/drawing/2014/main" xmlns="" val="2456744558"/>
                    </a:ext>
                  </a:extLst>
                </a:gridCol>
                <a:gridCol w="5406367">
                  <a:extLst>
                    <a:ext uri="{9D8B030D-6E8A-4147-A177-3AD203B41FA5}">
                      <a16:colId xmlns:a16="http://schemas.microsoft.com/office/drawing/2014/main" xmlns="" val="1228853089"/>
                    </a:ext>
                  </a:extLst>
                </a:gridCol>
                <a:gridCol w="5515889">
                  <a:extLst>
                    <a:ext uri="{9D8B030D-6E8A-4147-A177-3AD203B41FA5}">
                      <a16:colId xmlns:a16="http://schemas.microsoft.com/office/drawing/2014/main" xmlns="" val="2344483369"/>
                    </a:ext>
                  </a:extLst>
                </a:gridCol>
                <a:gridCol w="580111">
                  <a:extLst>
                    <a:ext uri="{9D8B030D-6E8A-4147-A177-3AD203B41FA5}">
                      <a16:colId xmlns:a16="http://schemas.microsoft.com/office/drawing/2014/main" xmlns="" val="402432539"/>
                    </a:ext>
                  </a:extLst>
                </a:gridCol>
              </a:tblGrid>
              <a:tr h="228600">
                <a:tc>
                  <a:txBody>
                    <a:bodyPr/>
                    <a:lstStyle/>
                    <a:p>
                      <a:r>
                        <a:rPr lang="en-US" sz="1600" dirty="0" smtClean="0">
                          <a:latin typeface="Times New Roman" panose="02020603050405020304" pitchFamily="18" charset="0"/>
                          <a:cs typeface="Times New Roman" panose="02020603050405020304" pitchFamily="18" charset="0"/>
                        </a:rPr>
                        <a:t>B-03</a:t>
                      </a:r>
                      <a:endParaRPr lang="en-IN" sz="1600" dirty="0">
                        <a:latin typeface="Times New Roman" panose="02020603050405020304" pitchFamily="18" charset="0"/>
                        <a:cs typeface="Times New Roman" panose="02020603050405020304" pitchFamily="18" charset="0"/>
                      </a:endParaRP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solidFill>
                  </a:tcPr>
                </a:tc>
                <a:tc>
                  <a:txBody>
                    <a:bodyPr/>
                    <a:lstStyle/>
                    <a:p>
                      <a:pPr algn="ctr"/>
                      <a:r>
                        <a:rPr lang="en-IN" sz="1600" dirty="0">
                          <a:latin typeface="Times New Roman" panose="02020603050405020304" pitchFamily="18" charset="0"/>
                          <a:cs typeface="Times New Roman" panose="02020603050405020304" pitchFamily="18" charset="0"/>
                        </a:rPr>
                        <a:t>Department of Computer Science and Engineering</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50000"/>
                      </a:schemeClr>
                    </a:solidFill>
                  </a:tcPr>
                </a:tc>
                <a:tc>
                  <a:txBody>
                    <a:bodyPr/>
                    <a:lstStyle/>
                    <a:p>
                      <a:pPr algn="ctr"/>
                      <a:r>
                        <a:rPr lang="en-IN" sz="1600" dirty="0">
                          <a:latin typeface="Times New Roman" panose="02020603050405020304" pitchFamily="18" charset="0"/>
                          <a:cs typeface="Times New Roman" panose="02020603050405020304" pitchFamily="18" charset="0"/>
                        </a:rPr>
                        <a:t>Srinivasa Ramanujan Institute of Technology</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8080"/>
                    </a:solidFill>
                  </a:tcPr>
                </a:tc>
                <a:tc>
                  <a:txBody>
                    <a:bodyPr/>
                    <a:lstStyle/>
                    <a:p>
                      <a:r>
                        <a:rPr lang="en-US" sz="1600" dirty="0" smtClean="0">
                          <a:solidFill>
                            <a:schemeClr val="tx1"/>
                          </a:solidFill>
                          <a:latin typeface="Times New Roman" panose="02020603050405020304" pitchFamily="18" charset="0"/>
                          <a:cs typeface="Times New Roman" panose="02020603050405020304" pitchFamily="18" charset="0"/>
                        </a:rPr>
                        <a:t>10</a:t>
                      </a:r>
                      <a:endParaRPr lang="en-IN" sz="1600" dirty="0">
                        <a:solidFill>
                          <a:schemeClr val="tx1"/>
                        </a:solidFill>
                        <a:latin typeface="Times New Roman" panose="02020603050405020304" pitchFamily="18" charset="0"/>
                        <a:cs typeface="Times New Roman" panose="02020603050405020304" pitchFamily="18" charset="0"/>
                      </a:endParaRP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xmlns="" val="455470646"/>
                  </a:ext>
                </a:extLst>
              </a:tr>
            </a:tbl>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PlaceHolder 1"/>
          <p:cNvSpPr>
            <a:spLocks noGrp="1"/>
          </p:cNvSpPr>
          <p:nvPr>
            <p:ph type="title" idx="4294967295"/>
          </p:nvPr>
        </p:nvSpPr>
        <p:spPr>
          <a:xfrm>
            <a:off x="0" y="232920"/>
            <a:ext cx="12191760" cy="714600"/>
          </a:xfrm>
          <a:prstGeom prst="rect">
            <a:avLst/>
          </a:prstGeom>
          <a:solidFill>
            <a:srgbClr val="FF6600"/>
          </a:solidFill>
          <a:ln w="0">
            <a:noFill/>
          </a:ln>
          <a:effectLst>
            <a:outerShdw blurRad="44280" dist="28080" dir="5400000" rotWithShape="0">
              <a:srgbClr val="000000">
                <a:alpha val="32000"/>
              </a:srgbClr>
            </a:outerShdw>
          </a:effectLst>
        </p:spPr>
        <p:txBody>
          <a:bodyPr lIns="90000" tIns="45000" rIns="90000" bIns="45000" anchor="t">
            <a:noAutofit/>
          </a:bodyPr>
          <a:lstStyle/>
          <a:p>
            <a:pPr>
              <a:lnSpc>
                <a:spcPct val="90000"/>
              </a:lnSpc>
            </a:pPr>
            <a:r>
              <a:rPr lang="en-IN" sz="4400" b="0" strike="noStrike" spc="-1" dirty="0" smtClean="0">
                <a:solidFill>
                  <a:srgbClr val="FFFFFF"/>
                </a:solidFill>
                <a:latin typeface="Times New Roman" panose="02020603050405020304"/>
              </a:rPr>
              <a:t>Git Hub Dashboards of each student</a:t>
            </a:r>
            <a:endParaRPr lang="en-US" sz="4400" b="0" strike="noStrike" spc="-1" dirty="0">
              <a:solidFill>
                <a:srgbClr val="000000"/>
              </a:solidFill>
              <a:latin typeface="Calibri" panose="020F0502020204030204"/>
            </a:endParaRPr>
          </a:p>
        </p:txBody>
      </p:sp>
      <p:sp>
        <p:nvSpPr>
          <p:cNvPr id="8" name="Rectangle 7">
            <a:extLst>
              <a:ext uri="{FF2B5EF4-FFF2-40B4-BE49-F238E27FC236}">
                <a16:creationId xmlns:a16="http://schemas.microsoft.com/office/drawing/2014/main" xmlns="" id="{67980CE8-0DF4-ADFB-351E-3165106C569D}"/>
              </a:ext>
            </a:extLst>
          </p:cNvPr>
          <p:cNvSpPr/>
          <p:nvPr/>
        </p:nvSpPr>
        <p:spPr>
          <a:xfrm>
            <a:off x="0" y="-5206"/>
            <a:ext cx="12192000" cy="288000"/>
          </a:xfrm>
          <a:prstGeom prst="rect">
            <a:avLst/>
          </a:prstGeom>
          <a:solidFill>
            <a:srgbClr val="0080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Times New Roman" panose="02020603050405020304" pitchFamily="18" charset="0"/>
              <a:cs typeface="Times New Roman" panose="02020603050405020304" pitchFamily="18" charset="0"/>
            </a:endParaRPr>
          </a:p>
          <a:p>
            <a:pPr algn="ctr"/>
            <a:r>
              <a:rPr lang="en-US" dirty="0" smtClean="0">
                <a:latin typeface="Times New Roman" panose="02020603050405020304" pitchFamily="18" charset="0"/>
                <a:cs typeface="Times New Roman" panose="02020603050405020304" pitchFamily="18" charset="0"/>
              </a:rPr>
              <a:t>An </a:t>
            </a:r>
            <a:r>
              <a:rPr lang="en-US" dirty="0">
                <a:latin typeface="Times New Roman" panose="02020603050405020304" pitchFamily="18" charset="0"/>
                <a:cs typeface="Times New Roman" panose="02020603050405020304" pitchFamily="18" charset="0"/>
              </a:rPr>
              <a:t>Intelligent Framework for </a:t>
            </a:r>
            <a:r>
              <a:rPr lang="en-US" dirty="0" err="1">
                <a:latin typeface="Times New Roman" panose="02020603050405020304" pitchFamily="18" charset="0"/>
                <a:cs typeface="Times New Roman" panose="02020603050405020304" pitchFamily="18" charset="0"/>
              </a:rPr>
              <a:t>Identifing</a:t>
            </a:r>
            <a:r>
              <a:rPr lang="en-US" dirty="0">
                <a:latin typeface="Times New Roman" panose="02020603050405020304" pitchFamily="18" charset="0"/>
                <a:cs typeface="Times New Roman" panose="02020603050405020304" pitchFamily="18" charset="0"/>
              </a:rPr>
              <a:t> the Cooking State of Rice</a:t>
            </a:r>
            <a:endParaRPr lang="en-IN" dirty="0">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p:txBody>
      </p:sp>
      <p:graphicFrame>
        <p:nvGraphicFramePr>
          <p:cNvPr id="9" name="Table 8">
            <a:extLst>
              <a:ext uri="{FF2B5EF4-FFF2-40B4-BE49-F238E27FC236}">
                <a16:creationId xmlns:a16="http://schemas.microsoft.com/office/drawing/2014/main" xmlns="" id="{40F8C159-E10E-1263-C3EF-28CF1B6055A5}"/>
              </a:ext>
            </a:extLst>
          </p:cNvPr>
          <p:cNvGraphicFramePr>
            <a:graphicFrameLocks noGrp="1"/>
          </p:cNvGraphicFramePr>
          <p:nvPr>
            <p:extLst>
              <p:ext uri="{D42A27DB-BD31-4B8C-83A1-F6EECF244321}">
                <p14:modId xmlns:p14="http://schemas.microsoft.com/office/powerpoint/2010/main" val="690275761"/>
              </p:ext>
            </p:extLst>
          </p:nvPr>
        </p:nvGraphicFramePr>
        <p:xfrm>
          <a:off x="-1" y="6629399"/>
          <a:ext cx="12192001" cy="314926"/>
        </p:xfrm>
        <a:graphic>
          <a:graphicData uri="http://schemas.openxmlformats.org/drawingml/2006/table">
            <a:tbl>
              <a:tblPr firstRow="1" bandRow="1">
                <a:tableStyleId>{5C22544A-7EE6-4342-B048-85BDC9FD1C3A}</a:tableStyleId>
              </a:tblPr>
              <a:tblGrid>
                <a:gridCol w="689634">
                  <a:extLst>
                    <a:ext uri="{9D8B030D-6E8A-4147-A177-3AD203B41FA5}">
                      <a16:colId xmlns:a16="http://schemas.microsoft.com/office/drawing/2014/main" xmlns="" val="2456744558"/>
                    </a:ext>
                  </a:extLst>
                </a:gridCol>
                <a:gridCol w="5406367">
                  <a:extLst>
                    <a:ext uri="{9D8B030D-6E8A-4147-A177-3AD203B41FA5}">
                      <a16:colId xmlns:a16="http://schemas.microsoft.com/office/drawing/2014/main" xmlns="" val="1228853089"/>
                    </a:ext>
                  </a:extLst>
                </a:gridCol>
                <a:gridCol w="5515889">
                  <a:extLst>
                    <a:ext uri="{9D8B030D-6E8A-4147-A177-3AD203B41FA5}">
                      <a16:colId xmlns:a16="http://schemas.microsoft.com/office/drawing/2014/main" xmlns="" val="2344483369"/>
                    </a:ext>
                  </a:extLst>
                </a:gridCol>
                <a:gridCol w="580111">
                  <a:extLst>
                    <a:ext uri="{9D8B030D-6E8A-4147-A177-3AD203B41FA5}">
                      <a16:colId xmlns:a16="http://schemas.microsoft.com/office/drawing/2014/main" xmlns="" val="402432539"/>
                    </a:ext>
                  </a:extLst>
                </a:gridCol>
              </a:tblGrid>
              <a:tr h="228600">
                <a:tc>
                  <a:txBody>
                    <a:bodyPr/>
                    <a:lstStyle/>
                    <a:p>
                      <a:r>
                        <a:rPr lang="en-US" sz="1600" dirty="0" smtClean="0">
                          <a:latin typeface="Times New Roman" panose="02020603050405020304" pitchFamily="18" charset="0"/>
                          <a:cs typeface="Times New Roman" panose="02020603050405020304" pitchFamily="18" charset="0"/>
                        </a:rPr>
                        <a:t>B-03</a:t>
                      </a:r>
                      <a:endParaRPr lang="en-IN" sz="1600" dirty="0">
                        <a:latin typeface="Times New Roman" panose="02020603050405020304" pitchFamily="18" charset="0"/>
                        <a:cs typeface="Times New Roman" panose="02020603050405020304" pitchFamily="18" charset="0"/>
                      </a:endParaRP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solidFill>
                  </a:tcPr>
                </a:tc>
                <a:tc>
                  <a:txBody>
                    <a:bodyPr/>
                    <a:lstStyle/>
                    <a:p>
                      <a:pPr algn="ctr"/>
                      <a:r>
                        <a:rPr lang="en-IN" sz="1600" dirty="0">
                          <a:latin typeface="Times New Roman" panose="02020603050405020304" pitchFamily="18" charset="0"/>
                          <a:cs typeface="Times New Roman" panose="02020603050405020304" pitchFamily="18" charset="0"/>
                        </a:rPr>
                        <a:t>Department of Computer Science and Engineering</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50000"/>
                      </a:schemeClr>
                    </a:solidFill>
                  </a:tcPr>
                </a:tc>
                <a:tc>
                  <a:txBody>
                    <a:bodyPr/>
                    <a:lstStyle/>
                    <a:p>
                      <a:pPr algn="ctr"/>
                      <a:r>
                        <a:rPr lang="en-IN" sz="1600" dirty="0">
                          <a:latin typeface="Times New Roman" panose="02020603050405020304" pitchFamily="18" charset="0"/>
                          <a:cs typeface="Times New Roman" panose="02020603050405020304" pitchFamily="18" charset="0"/>
                        </a:rPr>
                        <a:t>Srinivasa Ramanujan Institute of Technology</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8080"/>
                    </a:solidFill>
                  </a:tcPr>
                </a:tc>
                <a:tc>
                  <a:txBody>
                    <a:bodyPr/>
                    <a:lstStyle/>
                    <a:p>
                      <a:r>
                        <a:rPr lang="en-US" sz="1600" dirty="0" smtClean="0">
                          <a:solidFill>
                            <a:schemeClr val="tx1"/>
                          </a:solidFill>
                          <a:latin typeface="Times New Roman" panose="02020603050405020304" pitchFamily="18" charset="0"/>
                          <a:cs typeface="Times New Roman" panose="02020603050405020304" pitchFamily="18" charset="0"/>
                        </a:rPr>
                        <a:t>11</a:t>
                      </a:r>
                      <a:endParaRPr lang="en-IN" sz="1600" dirty="0">
                        <a:solidFill>
                          <a:schemeClr val="tx1"/>
                        </a:solidFill>
                        <a:latin typeface="Times New Roman" panose="02020603050405020304" pitchFamily="18" charset="0"/>
                        <a:cs typeface="Times New Roman" panose="02020603050405020304" pitchFamily="18" charset="0"/>
                      </a:endParaRP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xmlns="" val="455470646"/>
                  </a:ext>
                </a:extLst>
              </a:tr>
            </a:tbl>
          </a:graphicData>
        </a:graphic>
      </p:graphicFrame>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650" y="1371600"/>
            <a:ext cx="10680700" cy="424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2410696" y="5911334"/>
            <a:ext cx="7370607" cy="369332"/>
          </a:xfrm>
          <a:prstGeom prst="rect">
            <a:avLst/>
          </a:prstGeom>
          <a:noFill/>
        </p:spPr>
        <p:txBody>
          <a:bodyPr wrap="none" rtlCol="0">
            <a:spAutoFit/>
          </a:bodyPr>
          <a:lstStyle/>
          <a:p>
            <a:r>
              <a:rPr lang="en-IN" dirty="0" err="1" smtClean="0"/>
              <a:t>Github</a:t>
            </a:r>
            <a:r>
              <a:rPr lang="en-IN" dirty="0" smtClean="0"/>
              <a:t> Link: </a:t>
            </a:r>
            <a:r>
              <a:rPr lang="en-IN" dirty="0" smtClean="0">
                <a:solidFill>
                  <a:schemeClr val="accent1">
                    <a:lumMod val="75000"/>
                  </a:schemeClr>
                </a:solidFill>
              </a:rPr>
              <a:t>https</a:t>
            </a:r>
            <a:r>
              <a:rPr lang="en-IN" dirty="0">
                <a:solidFill>
                  <a:schemeClr val="accent1">
                    <a:lumMod val="75000"/>
                  </a:schemeClr>
                </a:solidFill>
              </a:rPr>
              <a:t>://</a:t>
            </a:r>
            <a:r>
              <a:rPr lang="en-IN" dirty="0" smtClean="0">
                <a:solidFill>
                  <a:schemeClr val="accent1">
                    <a:lumMod val="75000"/>
                  </a:schemeClr>
                </a:solidFill>
              </a:rPr>
              <a:t>github.com/RuhinaazYerur/CSE-2022-26-Batch-B3</a:t>
            </a:r>
            <a:endParaRPr lang="en-IN" dirty="0">
              <a:solidFill>
                <a:schemeClr val="accent1">
                  <a:lumMod val="75000"/>
                </a:schemeClr>
              </a:solidFill>
            </a:endParaRPr>
          </a:p>
        </p:txBody>
      </p:sp>
    </p:spTree>
    <p:extLst>
      <p:ext uri="{BB962C8B-B14F-4D97-AF65-F5344CB8AC3E}">
        <p14:creationId xmlns:p14="http://schemas.microsoft.com/office/powerpoint/2010/main" val="177214313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Rectangle 1"/>
          <p:cNvSpPr/>
          <p:nvPr/>
        </p:nvSpPr>
        <p:spPr>
          <a:xfrm>
            <a:off x="2632680" y="2375640"/>
            <a:ext cx="6848640" cy="16549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7000"/>
              </a:lnSpc>
              <a:spcAft>
                <a:spcPts val="800"/>
              </a:spcAft>
            </a:pPr>
            <a:r>
              <a:rPr lang="en-US" sz="9600" b="0" i="1" strike="noStrike" spc="-1" dirty="0">
                <a:solidFill>
                  <a:srgbClr val="FF6600"/>
                </a:solidFill>
                <a:latin typeface="Times New Roman" panose="02020603050405020304"/>
                <a:ea typeface="Calibri" panose="020F0502020204030204"/>
              </a:rPr>
              <a:t>Any Queries?</a:t>
            </a:r>
            <a:endParaRPr lang="en-IN" sz="9600" b="0" strike="noStrike" spc="-1" dirty="0">
              <a:latin typeface="Arial" panose="020B0604020202020204"/>
            </a:endParaRPr>
          </a:p>
        </p:txBody>
      </p:sp>
      <p:sp>
        <p:nvSpPr>
          <p:cNvPr id="3" name="Rectangle 2">
            <a:extLst>
              <a:ext uri="{FF2B5EF4-FFF2-40B4-BE49-F238E27FC236}">
                <a16:creationId xmlns:a16="http://schemas.microsoft.com/office/drawing/2014/main" xmlns="" id="{67980CE8-0DF4-ADFB-351E-3165106C569D}"/>
              </a:ext>
            </a:extLst>
          </p:cNvPr>
          <p:cNvSpPr/>
          <p:nvPr/>
        </p:nvSpPr>
        <p:spPr>
          <a:xfrm>
            <a:off x="0" y="0"/>
            <a:ext cx="12192000" cy="288000"/>
          </a:xfrm>
          <a:prstGeom prst="rect">
            <a:avLst/>
          </a:prstGeom>
          <a:solidFill>
            <a:srgbClr val="0080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Times New Roman" panose="02020603050405020304" pitchFamily="18" charset="0"/>
              <a:cs typeface="Times New Roman" panose="02020603050405020304" pitchFamily="18" charset="0"/>
            </a:endParaRPr>
          </a:p>
          <a:p>
            <a:pPr algn="ctr"/>
            <a:r>
              <a:rPr lang="en-US" dirty="0" smtClean="0">
                <a:latin typeface="Times New Roman" panose="02020603050405020304" pitchFamily="18" charset="0"/>
                <a:cs typeface="Times New Roman" panose="02020603050405020304" pitchFamily="18" charset="0"/>
              </a:rPr>
              <a:t>An </a:t>
            </a:r>
            <a:r>
              <a:rPr lang="en-US" dirty="0">
                <a:latin typeface="Times New Roman" panose="02020603050405020304" pitchFamily="18" charset="0"/>
                <a:cs typeface="Times New Roman" panose="02020603050405020304" pitchFamily="18" charset="0"/>
              </a:rPr>
              <a:t>Intelligent Framework for </a:t>
            </a:r>
            <a:r>
              <a:rPr lang="en-US" dirty="0" err="1">
                <a:latin typeface="Times New Roman" panose="02020603050405020304" pitchFamily="18" charset="0"/>
                <a:cs typeface="Times New Roman" panose="02020603050405020304" pitchFamily="18" charset="0"/>
              </a:rPr>
              <a:t>Identifing</a:t>
            </a:r>
            <a:r>
              <a:rPr lang="en-US" dirty="0">
                <a:latin typeface="Times New Roman" panose="02020603050405020304" pitchFamily="18" charset="0"/>
                <a:cs typeface="Times New Roman" panose="02020603050405020304" pitchFamily="18" charset="0"/>
              </a:rPr>
              <a:t> the Cooking State of Rice</a:t>
            </a:r>
            <a:endParaRPr lang="en-IN" dirty="0">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xmlns="" id="{40F8C159-E10E-1263-C3EF-28CF1B6055A5}"/>
              </a:ext>
            </a:extLst>
          </p:cNvPr>
          <p:cNvGraphicFramePr>
            <a:graphicFrameLocks noGrp="1"/>
          </p:cNvGraphicFramePr>
          <p:nvPr>
            <p:extLst>
              <p:ext uri="{D42A27DB-BD31-4B8C-83A1-F6EECF244321}">
                <p14:modId xmlns:p14="http://schemas.microsoft.com/office/powerpoint/2010/main" val="2292121847"/>
              </p:ext>
            </p:extLst>
          </p:nvPr>
        </p:nvGraphicFramePr>
        <p:xfrm>
          <a:off x="-1" y="6629399"/>
          <a:ext cx="12192001" cy="314926"/>
        </p:xfrm>
        <a:graphic>
          <a:graphicData uri="http://schemas.openxmlformats.org/drawingml/2006/table">
            <a:tbl>
              <a:tblPr firstRow="1" bandRow="1">
                <a:tableStyleId>{5C22544A-7EE6-4342-B048-85BDC9FD1C3A}</a:tableStyleId>
              </a:tblPr>
              <a:tblGrid>
                <a:gridCol w="689634">
                  <a:extLst>
                    <a:ext uri="{9D8B030D-6E8A-4147-A177-3AD203B41FA5}">
                      <a16:colId xmlns:a16="http://schemas.microsoft.com/office/drawing/2014/main" xmlns="" val="2456744558"/>
                    </a:ext>
                  </a:extLst>
                </a:gridCol>
                <a:gridCol w="5406367">
                  <a:extLst>
                    <a:ext uri="{9D8B030D-6E8A-4147-A177-3AD203B41FA5}">
                      <a16:colId xmlns:a16="http://schemas.microsoft.com/office/drawing/2014/main" xmlns="" val="1228853089"/>
                    </a:ext>
                  </a:extLst>
                </a:gridCol>
                <a:gridCol w="5515889">
                  <a:extLst>
                    <a:ext uri="{9D8B030D-6E8A-4147-A177-3AD203B41FA5}">
                      <a16:colId xmlns:a16="http://schemas.microsoft.com/office/drawing/2014/main" xmlns="" val="2344483369"/>
                    </a:ext>
                  </a:extLst>
                </a:gridCol>
                <a:gridCol w="580111">
                  <a:extLst>
                    <a:ext uri="{9D8B030D-6E8A-4147-A177-3AD203B41FA5}">
                      <a16:colId xmlns:a16="http://schemas.microsoft.com/office/drawing/2014/main" xmlns="" val="402432539"/>
                    </a:ext>
                  </a:extLst>
                </a:gridCol>
              </a:tblGrid>
              <a:tr h="228600">
                <a:tc>
                  <a:txBody>
                    <a:bodyPr/>
                    <a:lstStyle/>
                    <a:p>
                      <a:r>
                        <a:rPr lang="en-US" sz="1600" dirty="0" smtClean="0">
                          <a:latin typeface="Times New Roman" panose="02020603050405020304" pitchFamily="18" charset="0"/>
                          <a:cs typeface="Times New Roman" panose="02020603050405020304" pitchFamily="18" charset="0"/>
                        </a:rPr>
                        <a:t>B-03</a:t>
                      </a:r>
                      <a:endParaRPr lang="en-IN" sz="1600" dirty="0">
                        <a:latin typeface="Times New Roman" panose="02020603050405020304" pitchFamily="18" charset="0"/>
                        <a:cs typeface="Times New Roman" panose="02020603050405020304" pitchFamily="18" charset="0"/>
                      </a:endParaRP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solidFill>
                  </a:tcPr>
                </a:tc>
                <a:tc>
                  <a:txBody>
                    <a:bodyPr/>
                    <a:lstStyle/>
                    <a:p>
                      <a:pPr algn="ctr"/>
                      <a:r>
                        <a:rPr lang="en-IN" sz="1600" dirty="0">
                          <a:latin typeface="Times New Roman" panose="02020603050405020304" pitchFamily="18" charset="0"/>
                          <a:cs typeface="Times New Roman" panose="02020603050405020304" pitchFamily="18" charset="0"/>
                        </a:rPr>
                        <a:t>Department of Computer Science and Engineering</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50000"/>
                      </a:schemeClr>
                    </a:solidFill>
                  </a:tcPr>
                </a:tc>
                <a:tc>
                  <a:txBody>
                    <a:bodyPr/>
                    <a:lstStyle/>
                    <a:p>
                      <a:pPr algn="ctr"/>
                      <a:r>
                        <a:rPr lang="en-IN" sz="1600" dirty="0">
                          <a:latin typeface="Times New Roman" panose="02020603050405020304" pitchFamily="18" charset="0"/>
                          <a:cs typeface="Times New Roman" panose="02020603050405020304" pitchFamily="18" charset="0"/>
                        </a:rPr>
                        <a:t>Srinivasa Ramanujan Institute of Technology</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8080"/>
                    </a:solidFill>
                  </a:tcPr>
                </a:tc>
                <a:tc>
                  <a:txBody>
                    <a:bodyPr/>
                    <a:lstStyle/>
                    <a:p>
                      <a:r>
                        <a:rPr lang="en-US" sz="1600" dirty="0" smtClean="0">
                          <a:solidFill>
                            <a:schemeClr val="tx1"/>
                          </a:solidFill>
                          <a:latin typeface="Times New Roman" panose="02020603050405020304" pitchFamily="18" charset="0"/>
                          <a:cs typeface="Times New Roman" panose="02020603050405020304" pitchFamily="18" charset="0"/>
                        </a:rPr>
                        <a:t>12</a:t>
                      </a:r>
                      <a:endParaRPr lang="en-IN" sz="1600" dirty="0">
                        <a:solidFill>
                          <a:schemeClr val="tx1"/>
                        </a:solidFill>
                        <a:latin typeface="Times New Roman" panose="02020603050405020304" pitchFamily="18" charset="0"/>
                        <a:cs typeface="Times New Roman" panose="02020603050405020304" pitchFamily="18" charset="0"/>
                      </a:endParaRP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xmlns="" val="455470646"/>
                  </a:ext>
                </a:extLst>
              </a:tr>
            </a:tbl>
          </a:graphicData>
        </a:graphic>
      </p:graphicFrame>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1216</TotalTime>
  <Words>1190</Words>
  <Application>Microsoft Office PowerPoint</Application>
  <PresentationFormat>Custom</PresentationFormat>
  <Paragraphs>145</Paragraphs>
  <Slides>12</Slides>
  <Notes>4</Notes>
  <HiddenSlides>0</HiddenSlides>
  <MMClips>0</MMClips>
  <ScaleCrop>false</ScaleCrop>
  <HeadingPairs>
    <vt:vector size="4" baseType="variant">
      <vt:variant>
        <vt:lpstr>Theme</vt:lpstr>
      </vt:variant>
      <vt:variant>
        <vt:i4>2</vt:i4>
      </vt:variant>
      <vt:variant>
        <vt:lpstr>Slide Titles</vt:lpstr>
      </vt:variant>
      <vt:variant>
        <vt:i4>12</vt:i4>
      </vt:variant>
    </vt:vector>
  </HeadingPairs>
  <TitlesOfParts>
    <vt:vector size="14" baseType="lpstr">
      <vt:lpstr>Office Theme</vt:lpstr>
      <vt:lpstr>Office Theme</vt:lpstr>
      <vt:lpstr>PowerPoint Presentation</vt:lpstr>
      <vt:lpstr>Contents</vt:lpstr>
      <vt:lpstr>Title Justification</vt:lpstr>
      <vt:lpstr>Abstract</vt:lpstr>
      <vt:lpstr>Problem Statement</vt:lpstr>
      <vt:lpstr>Objectives of Project</vt:lpstr>
      <vt:lpstr>Literature survey for objectives</vt:lpstr>
      <vt:lpstr>Literature survey for objectives</vt:lpstr>
      <vt:lpstr>Proposed System</vt:lpstr>
      <vt:lpstr> References</vt:lpstr>
      <vt:lpstr>Git Hub Dashboards of each student</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venkatesh k</dc:creator>
  <cp:lastModifiedBy>Ruhi Naaz Yerur</cp:lastModifiedBy>
  <cp:revision>171</cp:revision>
  <dcterms:created xsi:type="dcterms:W3CDTF">2019-06-11T05:35:00Z</dcterms:created>
  <dcterms:modified xsi:type="dcterms:W3CDTF">2025-12-11T23:04:03Z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9BB83942808244A299B002FD6DDC753B</vt:lpwstr>
  </property>
  <property fmtid="{D5CDD505-2E9C-101B-9397-08002B2CF9AE}" pid="3" name="KSOProductBuildVer">
    <vt:lpwstr>1033-12.2.0.18639</vt:lpwstr>
  </property>
  <property fmtid="{D5CDD505-2E9C-101B-9397-08002B2CF9AE}" pid="4" name="PresentationFormat">
    <vt:lpwstr>Widescreen</vt:lpwstr>
  </property>
  <property fmtid="{D5CDD505-2E9C-101B-9397-08002B2CF9AE}" pid="5" name="Slides">
    <vt:i4>8</vt:i4>
  </property>
</Properties>
</file>